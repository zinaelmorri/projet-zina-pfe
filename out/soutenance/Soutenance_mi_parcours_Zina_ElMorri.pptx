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Bonjour Madame, Monsieur, membres du jury. Je suis Zina ElMorri et je vous présente l'état d'avancement de mon projet de fin d'études réalisé chez Sopra HR Software, encadré par M. Mohamed Zied FIOUEL côté entreprise et par M. Malek BOUZAIENE côté SESAME. Le sujet porte sur un système de gestion des flux SEPA, au format ISO 20022, avec une détection intelligente des anomalies, pour la solution de paie HR Access.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Ma présentation suit six parties : le contexte et la problématique, l'étude de l'existant et la solution proposée, les besoins organisés par acteur, la méthodologie Scrum et le sprint 0, puis l'avancement avec quelques captures de l'application, et enfin le planning des tâches restantes.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Sopra HR Software est une filiale du groupe Sopra Steria. Elle édite HR Access, une suite qui couvre tout le cycle de vie du salarié : dossier administratif, temps, calcul de la paie et production des flux vers les organismes tiers. Mon projet se concentre sur la toute dernière étape : la préparation, la validation et le contrôle du fichier de virement SEPA envoyé à la banque.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Chaque mois, le moteur de paie produit des lignes de paiement. Une fois approuvées, elles sont transformées en un fichier XML pain.001, défini par la norme ISO 20022 et contraint par un schéma XSD publié par l'European Payments Council. Ce fichier a trois blocs : l'en-tête GrpHdr avec le nombre de transactions et le total, le bloc PmtInf qui décrit le lot, et un bloc CdtTrfTxInf par salarié. Point important : plusieurs versions du schéma coexistent, et la structure change, par exemple la balise BIC devient BICFI.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Le fichier doit respecter trois niveaux de conformité. Structurel : il doit être valide par rapport au XSD choisi. Réglementaire : IBAN et BIC doivent respecter leurs normes ISO. Métier : montants plausibles, net inférieur au brut, pas de doublon. Aujourd'hui les contrôles sont surtout techniques, les scripts ciblent une version figée du schéma, et les erreurs métier ne sont vues qu'après le rejet par la banque. Il n'y a ni journal d'audit ni indicateurs. D'où la question affichée en bas de la diapositive.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J'ai comparé trois familles d'outils. Les scripts internes produisent le XML mais pour une seule version et sans contrôles métier. Les modules SEPA du marché contrôlent bien, mais ils sont propriétaires, coûteux et liés à un ERP. Les validateurs XSD ne vérifient que la structure. Aucun ne détecte les montants aberrants, et aucun ne combine tous les critères. Cette analyse porte sur les outils examinés, elle n'est pas exhaustive.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La solution est une plateforme web modulaire. Le front-end React est le point d'entrée de l'utilisateur. Le back-end Spring Boot est organisé en couches : contrôleurs, services, accès aux données. PostgreSQL stocke les données. À côté, un service d'intelligence artificielle en Python FastAPI, appelé en REST par le back-end, calcule un score de risque. Ce découplage permet de faire évoluer l'IA indépendamment, et de profiter de l'écosystème Python.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Quatre acteurs humains et un acteur système. L'administrateur gère les comptes et les schémas. Le gestionnaire RH prépare et génère les fichiers. Le validateur approuve les paiements : seuls les paiements approuvés entrent dans le fichier. L'auditeur est en lecture seule. Le module IA est un acteur système. Ce découpage applique le principe de séparation des responsabilités.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Je présente les besoins par acteur. L'administrateur gère le cycle de vie des comptes, importe et versionne les schémas XSD, supervise le modèle IA et pilote l'activité par le tableau de bord. L'auditeur, lui, vérifie la traçabilité : chaque action sensible est enregistrée avec son auteur, son horodatage, l'adresse IP et le résultat.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Le gestionnaire RH est l'utilisateur principal : il filtre les paiements, consulte les contraintes du schéma, prévisualise et génère le fichier, le valide contre le XSD avec la liste complète des erreurs, le télécharge, et traite les anomalies. Le validateur approuve les transactions. Le module IA détecte les montants statistiquement suspects et explique pourquoi, en complément des règles métier.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Côté qualité, les exigences principales sont la fiabilité, puisqu'aucun fichier non conforme ne doit être téléchargé, et la sécurité : authentification JWT, mots de passe hachés BCrypt, contrôle par rôle, protection contre les attaques XXE et journal d'audit. S'ajoutent la performance, la portabilité grâce à JPA et Docker, la maintenabilité avec un interrupteur qui désactive l'IA sans casser le traitement, l'ergonomie et l'observabilité.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Ce diagramme résume les interactions. Tous les acteurs s'authentifient. La génération SEPA inclut systématiquement la validation XSD. La détection IA vient compléter les contrôles quand le service est activé. Le téléchargement porte sur un fichier déjà enregistré dans l'historique, sans transmission automatique à la banque.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J'ai choisi Scrum plutôt que le cycle en cascade, car le projet mélange des domaines très différents : normes bancaires, règles métier, IA, web et DevOps. Tout spécifier au départ aurait été risqué. Le projet est découpé en un sprint 0 d'étude et quatre sprints de réalisation. Le backlog compte 33 user stories, priorisées avec la méthode MoSCoW et estimées en points.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Le sprint 0 a fixé la pile technique, chaque choix après comparaison. Spring Boot avec Java 17 pour la sécurité et la persistance. React avec Vite pour la rapidité de développement. Python avec FastAPI et scikit-learn pour l'IA. PostgreSQL pour les agrégations du tableau de bord. Docker pour un démarrage reproductible. Le choix structurant est la détection hybride : les règles Java couvrent ce qui est connu et doit être expliqué, l'Isolation Forest repère les montants atypiques sans données étiquetées.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Concrètement, le client React est organisé par pages et utilise un client HTTP qui ajoute le jeton à chaque requête. Le back-end expose une API REST protégée par un filtre JWT, avec des droits par rôle. Le service IA expose un modèle versionné. Les quatre conteneurs sont orchestrés par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 Voici l'état d'avancement. Le rapport de mi-parcours couvre les chapitres 1 et 2, mais côté code, les quatre sprints sont développés. Le sprint 1 est à 74 % car la connexion par reconnaissance faciale, une story de priorité Could, n'est pas encore faite : il n'existe qu'un point d'entrée qui répond « non implémenté ». Le sprint 2 est fonctionnel, j'intègre les remarques de mon encadrant. Pour le sprint 3, il me reste à mesurer précision, rappel et F1 du modèle. Au total, 160 points sur 168, toutes les stories Must sont livrées, avec 85 tests back-end et 7 tests Python qui passent.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Voici l'écran des virements de masse. Le gestionnaire choisit le schéma XSD, la société et la période, puis génère un aperçu. À droite, un exemple de fichier non conforme : la validation contre le XSD remonte toutes les erreurs, pas seulement la première, avec la ligne, l'élément et un message traduit. Un fichier non conforme ne peut être ni enregistré ni téléchargé. L'historique conserve chaque fichier à l'identique.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La page des anomalies regroupe les détections des règles métier et de l'IA. Par exemple ici, un IBAN invalide : la recommandation reprend les vraies valeurs, l'IBAN masqué et le matricule, et indique l'action à faire. L'IA renvoie un score entre 0 et 1, converti en niveau de risque, avec des raisons comme « montant 1,8 fois la moyenne des six derniers mois ». Le gestionnaire marque l'anomalie corrigée ou ignorée, et ce changement est tracé dans le journal d'audit.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Enfin, le pilotage. Le tableau de bord KPI affiche les fiches générées, le taux d'erreur, le montant total viré, l'évolution sur douze mois et la répartition des anomalies par source et par type. À droite, le journal d'audit trace chaque action sensible : connexion, import XSD, génération, validation, avec l'adresse IP et le résultat.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Pour la suite, j'ai planifié les tâches restantes. À court terme : finir les corrections demandées par mon encadrant et mesurer les performances de l'IA. En parallèle, je rédige les chapitres 3 à 6. Ensuite viennent la connexion faciale, les tests front-end et de bout en bout, une chaîne d'intégration continue et le durcissement de la sécurité pour la production. Je termine par la recette avec mon encadrant, le dépôt du rapport et la préparation de la soutenance finale.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Pour conclure : la plateforme fonctionne de bout en bout, de l'import du schéma XSD jusqu'au tableau de bord. Il me reste à mesurer les performances de l'IA, à finaliser le rapport et à industrialiser. Comme perspectives, entraîner le modèle sur des données réelles anonymisées, utiliser les anomalies corrigées ou ignorées comme étiquettes, et étendre à d'autres messages ISO 20022. Je vous remercie pour votre attention et je suis prête à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4924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01_1.png"/>
          <p:cNvPicPr>
            <a:picLocks noChangeAspect="1"/>
          </p:cNvPicPr>
          <p:nvPr/>
        </p:nvPicPr>
        <p:blipFill>
          <a:blip r:embed="rId2"/>
          <a:stretch>
            <a:fillRect/>
          </a:stretch>
        </p:blipFill>
        <p:spPr>
          <a:xfrm>
            <a:off x="457200" y="506502"/>
            <a:ext cx="3108959" cy="450035"/>
          </a:xfrm>
          <a:prstGeom prst="rect">
            <a:avLst/>
          </a:prstGeom>
        </p:spPr>
      </p:pic>
      <p:pic>
        <p:nvPicPr>
          <p:cNvPr id="6" name="Picture 5" descr="p01_2.png"/>
          <p:cNvPicPr>
            <a:picLocks noChangeAspect="1"/>
          </p:cNvPicPr>
          <p:nvPr/>
        </p:nvPicPr>
        <p:blipFill>
          <a:blip r:embed="rId3"/>
          <a:stretch>
            <a:fillRect/>
          </a:stretch>
        </p:blipFill>
        <p:spPr>
          <a:xfrm>
            <a:off x="10332720" y="182880"/>
            <a:ext cx="1463040" cy="1463040"/>
          </a:xfrm>
          <a:prstGeom prst="rect">
            <a:avLst/>
          </a:prstGeom>
        </p:spPr>
      </p:pic>
      <p:sp>
        <p:nvSpPr>
          <p:cNvPr id="7" name="TextBox 6"/>
          <p:cNvSpPr txBox="1"/>
          <p:nvPr/>
        </p:nvSpPr>
        <p:spPr>
          <a:xfrm>
            <a:off x="731520" y="1600200"/>
            <a:ext cx="10698480" cy="457200"/>
          </a:xfrm>
          <a:prstGeom prst="rect">
            <a:avLst/>
          </a:prstGeom>
          <a:noFill/>
        </p:spPr>
        <p:txBody>
          <a:bodyPr wrap="square" anchor="t" lIns="45720" rIns="45720">
            <a:spAutoFit/>
          </a:bodyPr>
          <a:lstStyle/>
          <a:p>
            <a:pPr algn="ctr">
              <a:spcAft>
                <a:spcPts val="400"/>
              </a:spcAft>
            </a:pPr>
            <a:r>
              <a:rPr sz="1800" b="1">
                <a:solidFill>
                  <a:srgbClr val="4648E0"/>
                </a:solidFill>
                <a:latin typeface="Calibri"/>
              </a:rPr>
              <a:t>Soutenance de mi-parcours — Projet de fin d'études</a:t>
            </a:r>
          </a:p>
        </p:txBody>
      </p:sp>
      <p:sp>
        <p:nvSpPr>
          <p:cNvPr id="8" name="TextBox 7"/>
          <p:cNvSpPr txBox="1"/>
          <p:nvPr/>
        </p:nvSpPr>
        <p:spPr>
          <a:xfrm>
            <a:off x="731520" y="2103120"/>
            <a:ext cx="10698480" cy="1463040"/>
          </a:xfrm>
          <a:prstGeom prst="rect">
            <a:avLst/>
          </a:prstGeom>
          <a:noFill/>
        </p:spPr>
        <p:txBody>
          <a:bodyPr wrap="square" anchor="ctr" lIns="45720" rIns="45720">
            <a:spAutoFit/>
          </a:bodyPr>
          <a:lstStyle/>
          <a:p>
            <a:pPr algn="ctr">
              <a:spcAft>
                <a:spcPts val="400"/>
              </a:spcAft>
            </a:pPr>
            <a:r>
              <a:rPr sz="3000" b="1">
                <a:solidFill>
                  <a:srgbClr val="1F2235"/>
                </a:solidFill>
                <a:latin typeface="Calibri"/>
              </a:rPr>
              <a:t>Système de gestion des flux SEPA (ISO 20022) avec détection intelligente d'anomalies pour la paie HR Access</a:t>
            </a:r>
          </a:p>
        </p:txBody>
      </p:sp>
      <p:sp>
        <p:nvSpPr>
          <p:cNvPr id="9" name="TextBox 8"/>
          <p:cNvSpPr txBox="1"/>
          <p:nvPr/>
        </p:nvSpPr>
        <p:spPr>
          <a:xfrm>
            <a:off x="731520" y="3703320"/>
            <a:ext cx="10698480" cy="457200"/>
          </a:xfrm>
          <a:prstGeom prst="rect">
            <a:avLst/>
          </a:prstGeom>
          <a:noFill/>
        </p:spPr>
        <p:txBody>
          <a:bodyPr wrap="square" anchor="t" lIns="45720" rIns="45720">
            <a:spAutoFit/>
          </a:bodyPr>
          <a:lstStyle/>
          <a:p>
            <a:pPr algn="ctr">
              <a:spcAft>
                <a:spcPts val="400"/>
              </a:spcAft>
            </a:pPr>
            <a:r>
              <a:rPr sz="2000" b="1">
                <a:solidFill>
                  <a:srgbClr val="111827"/>
                </a:solidFill>
                <a:latin typeface="Calibri"/>
              </a:rPr>
              <a:t>Réalisé par : Zina ElMorri</a:t>
            </a:r>
          </a:p>
        </p:txBody>
      </p:sp>
      <p:sp>
        <p:nvSpPr>
          <p:cNvPr id="10" name="TextBox 9"/>
          <p:cNvSpPr txBox="1"/>
          <p:nvPr/>
        </p:nvSpPr>
        <p:spPr>
          <a:xfrm>
            <a:off x="731520" y="4206240"/>
            <a:ext cx="10698480" cy="1005840"/>
          </a:xfrm>
          <a:prstGeom prst="rect">
            <a:avLst/>
          </a:prstGeom>
          <a:noFill/>
        </p:spPr>
        <p:txBody>
          <a:bodyPr wrap="square" anchor="t" lIns="45720" rIns="45720">
            <a:spAutoFit/>
          </a:bodyPr>
          <a:lstStyle/>
          <a:p>
            <a:pPr algn="ctr">
              <a:spcAft>
                <a:spcPts val="400"/>
              </a:spcAft>
            </a:pPr>
            <a:r>
              <a:rPr sz="1500" b="0">
                <a:solidFill>
                  <a:srgbClr val="6B7280"/>
                </a:solidFill>
                <a:latin typeface="Calibri"/>
              </a:rPr>
              <a:t>Encadrant entreprise : M. Mohamed Zied FIOUEL  —  Sopra HR Software</a:t>
            </a:r>
          </a:p>
          <a:p>
            <a:pPr algn="ctr">
              <a:spcAft>
                <a:spcPts val="400"/>
              </a:spcAft>
            </a:pPr>
            <a:r>
              <a:rPr sz="1500" b="0">
                <a:solidFill>
                  <a:srgbClr val="6B7280"/>
                </a:solidFill>
                <a:latin typeface="Calibri"/>
              </a:rPr>
              <a:t>Encadrant universitaire : M. Malek BOUZAIENE  —  SESAME</a:t>
            </a:r>
          </a:p>
        </p:txBody>
      </p:sp>
      <p:sp>
        <p:nvSpPr>
          <p:cNvPr id="11" name="TextBox 10"/>
          <p:cNvSpPr txBox="1"/>
          <p:nvPr/>
        </p:nvSpPr>
        <p:spPr>
          <a:xfrm>
            <a:off x="731520" y="5669280"/>
            <a:ext cx="10698480" cy="822960"/>
          </a:xfrm>
          <a:prstGeom prst="rect">
            <a:avLst/>
          </a:prstGeom>
          <a:noFill/>
        </p:spPr>
        <p:txBody>
          <a:bodyPr wrap="square" anchor="t" lIns="45720" rIns="45720">
            <a:spAutoFit/>
          </a:bodyPr>
          <a:lstStyle/>
          <a:p>
            <a:pPr algn="ctr">
              <a:spcAft>
                <a:spcPts val="400"/>
              </a:spcAft>
            </a:pPr>
            <a:r>
              <a:rPr sz="1500" b="0">
                <a:solidFill>
                  <a:srgbClr val="FFFFFF"/>
                </a:solidFill>
                <a:latin typeface="Calibri"/>
              </a:rPr>
              <a:t>Année universitaire 2025 / 2026</a:t>
            </a:r>
          </a:p>
          <a:p>
            <a:pPr algn="ctr">
              <a:spcAft>
                <a:spcPts val="400"/>
              </a:spcAft>
            </a:pPr>
            <a:r>
              <a:rPr sz="1500" b="0">
                <a:solidFill>
                  <a:srgbClr val="FFFFFF"/>
                </a:solidFill>
                <a:latin typeface="Calibri"/>
              </a:rPr>
              <a:t>[Date de la soutenance à compléter]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Plan de la présentation</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2 / 21</a:t>
            </a:r>
          </a:p>
        </p:txBody>
      </p:sp>
      <p:sp>
        <p:nvSpPr>
          <p:cNvPr id="8" name="Oval 7"/>
          <p:cNvSpPr/>
          <p:nvPr/>
        </p:nvSpPr>
        <p:spPr>
          <a:xfrm>
            <a:off x="822960" y="14630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630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1</a:t>
            </a:r>
          </a:p>
        </p:txBody>
      </p:sp>
      <p:sp>
        <p:nvSpPr>
          <p:cNvPr id="10" name="TextBox 9"/>
          <p:cNvSpPr txBox="1"/>
          <p:nvPr/>
        </p:nvSpPr>
        <p:spPr>
          <a:xfrm>
            <a:off x="1920240" y="14630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Contexte et problématique</a:t>
            </a:r>
          </a:p>
        </p:txBody>
      </p:sp>
      <p:sp>
        <p:nvSpPr>
          <p:cNvPr id="11" name="Oval 10"/>
          <p:cNvSpPr/>
          <p:nvPr/>
        </p:nvSpPr>
        <p:spPr>
          <a:xfrm>
            <a:off x="6400800" y="14630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4630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2</a:t>
            </a:r>
          </a:p>
        </p:txBody>
      </p:sp>
      <p:sp>
        <p:nvSpPr>
          <p:cNvPr id="13" name="TextBox 12"/>
          <p:cNvSpPr txBox="1"/>
          <p:nvPr/>
        </p:nvSpPr>
        <p:spPr>
          <a:xfrm>
            <a:off x="7498080" y="14630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Existant et solution proposée</a:t>
            </a:r>
          </a:p>
        </p:txBody>
      </p:sp>
      <p:sp>
        <p:nvSpPr>
          <p:cNvPr id="14" name="Oval 13"/>
          <p:cNvSpPr/>
          <p:nvPr/>
        </p:nvSpPr>
        <p:spPr>
          <a:xfrm>
            <a:off x="822960" y="30632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632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3</a:t>
            </a:r>
          </a:p>
        </p:txBody>
      </p:sp>
      <p:sp>
        <p:nvSpPr>
          <p:cNvPr id="16" name="TextBox 15"/>
          <p:cNvSpPr txBox="1"/>
          <p:nvPr/>
        </p:nvSpPr>
        <p:spPr>
          <a:xfrm>
            <a:off x="1920240" y="30632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Besoins et acteurs</a:t>
            </a:r>
          </a:p>
        </p:txBody>
      </p:sp>
      <p:sp>
        <p:nvSpPr>
          <p:cNvPr id="17" name="Oval 16"/>
          <p:cNvSpPr/>
          <p:nvPr/>
        </p:nvSpPr>
        <p:spPr>
          <a:xfrm>
            <a:off x="6400800" y="30632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0632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4</a:t>
            </a:r>
          </a:p>
        </p:txBody>
      </p:sp>
      <p:sp>
        <p:nvSpPr>
          <p:cNvPr id="19" name="TextBox 18"/>
          <p:cNvSpPr txBox="1"/>
          <p:nvPr/>
        </p:nvSpPr>
        <p:spPr>
          <a:xfrm>
            <a:off x="7498080" y="30632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Méthodologie et Sprint 0</a:t>
            </a:r>
          </a:p>
        </p:txBody>
      </p:sp>
      <p:sp>
        <p:nvSpPr>
          <p:cNvPr id="20" name="Oval 19"/>
          <p:cNvSpPr/>
          <p:nvPr/>
        </p:nvSpPr>
        <p:spPr>
          <a:xfrm>
            <a:off x="822960" y="46634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6634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5</a:t>
            </a:r>
          </a:p>
        </p:txBody>
      </p:sp>
      <p:sp>
        <p:nvSpPr>
          <p:cNvPr id="22" name="TextBox 21"/>
          <p:cNvSpPr txBox="1"/>
          <p:nvPr/>
        </p:nvSpPr>
        <p:spPr>
          <a:xfrm>
            <a:off x="1920240" y="46634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Avancement et démonstration</a:t>
            </a:r>
          </a:p>
        </p:txBody>
      </p:sp>
      <p:sp>
        <p:nvSpPr>
          <p:cNvPr id="23" name="Oval 22"/>
          <p:cNvSpPr/>
          <p:nvPr/>
        </p:nvSpPr>
        <p:spPr>
          <a:xfrm>
            <a:off x="6400800" y="4663440"/>
            <a:ext cx="914400" cy="914400"/>
          </a:xfrm>
          <a:prstGeom prst="ellipse">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663440"/>
            <a:ext cx="914400" cy="914400"/>
          </a:xfrm>
          <a:prstGeom prst="rect">
            <a:avLst/>
          </a:prstGeom>
          <a:noFill/>
        </p:spPr>
        <p:txBody>
          <a:bodyPr wrap="square" anchor="ctr" lIns="45720" rIns="45720">
            <a:spAutoFit/>
          </a:bodyPr>
          <a:lstStyle/>
          <a:p>
            <a:pPr algn="ctr">
              <a:spcAft>
                <a:spcPts val="400"/>
              </a:spcAft>
            </a:pPr>
            <a:r>
              <a:rPr sz="3000" b="1">
                <a:solidFill>
                  <a:srgbClr val="FFFFFF"/>
                </a:solidFill>
                <a:latin typeface="Calibri"/>
              </a:rPr>
              <a:t>6</a:t>
            </a:r>
          </a:p>
        </p:txBody>
      </p:sp>
      <p:sp>
        <p:nvSpPr>
          <p:cNvPr id="25" name="TextBox 24"/>
          <p:cNvSpPr txBox="1"/>
          <p:nvPr/>
        </p:nvSpPr>
        <p:spPr>
          <a:xfrm>
            <a:off x="7498080" y="4663440"/>
            <a:ext cx="4206240" cy="914400"/>
          </a:xfrm>
          <a:prstGeom prst="rect">
            <a:avLst/>
          </a:prstGeom>
          <a:noFill/>
        </p:spPr>
        <p:txBody>
          <a:bodyPr wrap="square" anchor="ctr" lIns="45720" rIns="45720">
            <a:spAutoFit/>
          </a:bodyPr>
          <a:lstStyle/>
          <a:p>
            <a:pPr algn="l">
              <a:spcAft>
                <a:spcPts val="400"/>
              </a:spcAft>
            </a:pPr>
            <a:r>
              <a:rPr sz="2000" b="1">
                <a:solidFill>
                  <a:srgbClr val="1F2235"/>
                </a:solidFill>
                <a:latin typeface="Calibri"/>
              </a:rPr>
              <a:t>Planning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Organisme d'accueil</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Contexte et problématique</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3 / 21</a:t>
            </a:r>
          </a:p>
        </p:txBody>
      </p:sp>
      <p:sp>
        <p:nvSpPr>
          <p:cNvPr id="8" name="Rounded Rectangle 7"/>
          <p:cNvSpPr/>
          <p:nvPr/>
        </p:nvSpPr>
        <p:spPr>
          <a:xfrm>
            <a:off x="457200" y="1143000"/>
            <a:ext cx="5522976"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5294376"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Sopra HR Software</a:t>
            </a:r>
          </a:p>
        </p:txBody>
      </p:sp>
      <p:sp>
        <p:nvSpPr>
          <p:cNvPr id="11" name="TextBox 10"/>
          <p:cNvSpPr txBox="1"/>
          <p:nvPr/>
        </p:nvSpPr>
        <p:spPr>
          <a:xfrm>
            <a:off x="621792" y="1600200"/>
            <a:ext cx="5294376" cy="457200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Filiale du groupe Sopra Steria</a:t>
            </a:r>
          </a:p>
          <a:p>
            <a:pPr algn="l">
              <a:spcAft>
                <a:spcPts val="400"/>
              </a:spcAft>
            </a:pPr>
            <a:r>
              <a:rPr sz="1300" b="0">
                <a:solidFill>
                  <a:srgbClr val="111827"/>
                </a:solidFill>
                <a:latin typeface="Calibri"/>
              </a:rPr>
              <a:t>• Éditeur de la suite RH et paie HR Access</a:t>
            </a:r>
          </a:p>
          <a:p>
            <a:pPr algn="l">
              <a:spcAft>
                <a:spcPts val="400"/>
              </a:spcAft>
            </a:pPr>
            <a:r>
              <a:rPr sz="1300" b="0">
                <a:solidFill>
                  <a:srgbClr val="111827"/>
                </a:solidFill>
                <a:latin typeface="Calibri"/>
              </a:rPr>
              <a:t>• Clients en France et à l'international</a:t>
            </a:r>
          </a:p>
          <a:p>
            <a:pPr algn="l">
              <a:spcAft>
                <a:spcPts val="400"/>
              </a:spcAft>
            </a:pPr>
            <a:r>
              <a:rPr sz="1300" b="0">
                <a:solidFill>
                  <a:srgbClr val="111827"/>
                </a:solidFill>
                <a:latin typeface="Calibri"/>
              </a:rPr>
              <a:t>• Expertise secteurs bancaire, industriel, public</a:t>
            </a:r>
          </a:p>
        </p:txBody>
      </p:sp>
      <p:sp>
        <p:nvSpPr>
          <p:cNvPr id="12" name="Rounded Rectangle 11"/>
          <p:cNvSpPr/>
          <p:nvPr/>
        </p:nvSpPr>
        <p:spPr>
          <a:xfrm>
            <a:off x="6208776" y="1143000"/>
            <a:ext cx="5522976"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216152"/>
            <a:ext cx="5294376"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La solution HR Access</a:t>
            </a:r>
          </a:p>
        </p:txBody>
      </p:sp>
      <p:sp>
        <p:nvSpPr>
          <p:cNvPr id="15" name="TextBox 14"/>
          <p:cNvSpPr txBox="1"/>
          <p:nvPr/>
        </p:nvSpPr>
        <p:spPr>
          <a:xfrm>
            <a:off x="6373368" y="1600200"/>
            <a:ext cx="5294376" cy="457200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Dossier administratif du salarié</a:t>
            </a:r>
          </a:p>
          <a:p>
            <a:pPr algn="l">
              <a:spcAft>
                <a:spcPts val="400"/>
              </a:spcAft>
            </a:pPr>
            <a:r>
              <a:rPr sz="1300" b="0">
                <a:solidFill>
                  <a:srgbClr val="111827"/>
                </a:solidFill>
                <a:latin typeface="Calibri"/>
              </a:rPr>
              <a:t>• Gestion des temps et des activités</a:t>
            </a:r>
          </a:p>
          <a:p>
            <a:pPr algn="l">
              <a:spcAft>
                <a:spcPts val="400"/>
              </a:spcAft>
            </a:pPr>
            <a:r>
              <a:rPr sz="1300" b="0">
                <a:solidFill>
                  <a:srgbClr val="111827"/>
                </a:solidFill>
                <a:latin typeface="Calibri"/>
              </a:rPr>
              <a:t>• Moteur de paie paramétrable</a:t>
            </a:r>
          </a:p>
          <a:p>
            <a:pPr algn="l">
              <a:spcAft>
                <a:spcPts val="400"/>
              </a:spcAft>
            </a:pPr>
            <a:r>
              <a:rPr sz="1300" b="0">
                <a:solidFill>
                  <a:srgbClr val="111827"/>
                </a:solidFill>
                <a:latin typeface="Calibri"/>
              </a:rPr>
              <a:t>• Flux vers les tiers : banques, URSSAF, mutuelles</a:t>
            </a:r>
          </a:p>
          <a:p>
            <a:pPr algn="l">
              <a:spcAft>
                <a:spcPts val="400"/>
              </a:spcAft>
            </a:pPr>
            <a:r>
              <a:rPr sz="1300" b="0">
                <a:solidFill>
                  <a:srgbClr val="111827"/>
                </a:solidFill>
                <a:latin typeface="Calibri"/>
              </a:rPr>
              <a:t>• Périmètre du projet : préparation, validation et contrôle des fichiers SEPA</a:t>
            </a:r>
          </a:p>
        </p:txBody>
      </p:sp>
      <p:pic>
        <p:nvPicPr>
          <p:cNvPr id="16" name="Picture 15" descr="p01_2.png"/>
          <p:cNvPicPr>
            <a:picLocks noChangeAspect="1"/>
          </p:cNvPicPr>
          <p:nvPr/>
        </p:nvPicPr>
        <p:blipFill>
          <a:blip r:embed="rId2"/>
          <a:stretch>
            <a:fillRect/>
          </a:stretch>
        </p:blipFill>
        <p:spPr>
          <a:xfrm>
            <a:off x="10424160" y="4937760"/>
            <a:ext cx="1280160" cy="12801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Contexte métier : du calcul de paie au virement</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Contexte et problématique</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4 / 21</a:t>
            </a:r>
          </a:p>
        </p:txBody>
      </p:sp>
      <p:sp>
        <p:nvSpPr>
          <p:cNvPr id="8" name="Rounded Rectangle 7"/>
          <p:cNvSpPr/>
          <p:nvPr/>
        </p:nvSpPr>
        <p:spPr>
          <a:xfrm>
            <a:off x="562356" y="1325880"/>
            <a:ext cx="2423160" cy="1463040"/>
          </a:xfrm>
          <a:prstGeom prst="round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 y="1371600"/>
            <a:ext cx="2423160" cy="1371600"/>
          </a:xfrm>
          <a:prstGeom prst="rect">
            <a:avLst/>
          </a:prstGeom>
          <a:noFill/>
        </p:spPr>
        <p:txBody>
          <a:bodyPr wrap="square" anchor="ctr" lIns="45720" rIns="45720">
            <a:spAutoFit/>
          </a:bodyPr>
          <a:lstStyle/>
          <a:p>
            <a:pPr algn="ctr">
              <a:spcAft>
                <a:spcPts val="400"/>
              </a:spcAft>
            </a:pPr>
            <a:r>
              <a:rPr sz="1600" b="1">
                <a:solidFill>
                  <a:srgbClr val="FFFFFF"/>
                </a:solidFill>
                <a:latin typeface="Calibri"/>
              </a:rPr>
              <a:t>Moteur de paie</a:t>
            </a:r>
          </a:p>
          <a:p>
            <a:pPr algn="ctr">
              <a:spcAft>
                <a:spcPts val="400"/>
              </a:spcAft>
            </a:pPr>
            <a:r>
              <a:rPr sz="1200" b="0">
                <a:solidFill>
                  <a:srgbClr val="E0E7FF"/>
                </a:solidFill>
                <a:latin typeface="Calibri"/>
              </a:rPr>
              <a:t>HR Access calcule les salaires</a:t>
            </a:r>
          </a:p>
        </p:txBody>
      </p:sp>
      <p:sp>
        <p:nvSpPr>
          <p:cNvPr id="10" name="Right Arrow 9"/>
          <p:cNvSpPr/>
          <p:nvPr/>
        </p:nvSpPr>
        <p:spPr>
          <a:xfrm>
            <a:off x="3058668" y="1874520"/>
            <a:ext cx="310896"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42716" y="1325880"/>
            <a:ext cx="2423160" cy="1463040"/>
          </a:xfrm>
          <a:prstGeom prst="round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2716" y="1371600"/>
            <a:ext cx="2423160" cy="1371600"/>
          </a:xfrm>
          <a:prstGeom prst="rect">
            <a:avLst/>
          </a:prstGeom>
          <a:noFill/>
        </p:spPr>
        <p:txBody>
          <a:bodyPr wrap="square" anchor="ctr" lIns="45720" rIns="45720">
            <a:spAutoFit/>
          </a:bodyPr>
          <a:lstStyle/>
          <a:p>
            <a:pPr algn="ctr">
              <a:spcAft>
                <a:spcPts val="400"/>
              </a:spcAft>
            </a:pPr>
            <a:r>
              <a:rPr sz="1600" b="1">
                <a:solidFill>
                  <a:srgbClr val="FFFFFF"/>
                </a:solidFill>
                <a:latin typeface="Calibri"/>
              </a:rPr>
              <a:t>Paiements approuvés</a:t>
            </a:r>
          </a:p>
          <a:p>
            <a:pPr algn="ctr">
              <a:spcAft>
                <a:spcPts val="400"/>
              </a:spcAft>
            </a:pPr>
            <a:r>
              <a:rPr sz="1200" b="0">
                <a:solidFill>
                  <a:srgbClr val="E0E7FF"/>
                </a:solidFill>
                <a:latin typeface="Calibri"/>
              </a:rPr>
              <a:t>IBAN, BIC, montant, période</a:t>
            </a:r>
          </a:p>
        </p:txBody>
      </p:sp>
      <p:sp>
        <p:nvSpPr>
          <p:cNvPr id="13" name="Right Arrow 12"/>
          <p:cNvSpPr/>
          <p:nvPr/>
        </p:nvSpPr>
        <p:spPr>
          <a:xfrm>
            <a:off x="5939028" y="1874520"/>
            <a:ext cx="310896"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3076" y="1325880"/>
            <a:ext cx="2423160" cy="1463040"/>
          </a:xfrm>
          <a:prstGeom prst="round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3076" y="1371600"/>
            <a:ext cx="2423160" cy="1371600"/>
          </a:xfrm>
          <a:prstGeom prst="rect">
            <a:avLst/>
          </a:prstGeom>
          <a:noFill/>
        </p:spPr>
        <p:txBody>
          <a:bodyPr wrap="square" anchor="ctr" lIns="45720" rIns="45720">
            <a:spAutoFit/>
          </a:bodyPr>
          <a:lstStyle/>
          <a:p>
            <a:pPr algn="ctr">
              <a:spcAft>
                <a:spcPts val="400"/>
              </a:spcAft>
            </a:pPr>
            <a:r>
              <a:rPr sz="1600" b="1">
                <a:solidFill>
                  <a:srgbClr val="FFFFFF"/>
                </a:solidFill>
                <a:latin typeface="Calibri"/>
              </a:rPr>
              <a:t>Fichier pain.001</a:t>
            </a:r>
          </a:p>
          <a:p>
            <a:pPr algn="ctr">
              <a:spcAft>
                <a:spcPts val="400"/>
              </a:spcAft>
            </a:pPr>
            <a:r>
              <a:rPr sz="1200" b="0">
                <a:solidFill>
                  <a:srgbClr val="E0E7FF"/>
                </a:solidFill>
                <a:latin typeface="Calibri"/>
              </a:rPr>
              <a:t>XML ISO 20022 contraint par un XSD</a:t>
            </a:r>
          </a:p>
        </p:txBody>
      </p:sp>
      <p:sp>
        <p:nvSpPr>
          <p:cNvPr id="16" name="Right Arrow 15"/>
          <p:cNvSpPr/>
          <p:nvPr/>
        </p:nvSpPr>
        <p:spPr>
          <a:xfrm>
            <a:off x="8819388" y="1874520"/>
            <a:ext cx="310896"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03436" y="1325880"/>
            <a:ext cx="2423160" cy="1463040"/>
          </a:xfrm>
          <a:prstGeom prst="round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03436" y="1371600"/>
            <a:ext cx="2423160" cy="1371600"/>
          </a:xfrm>
          <a:prstGeom prst="rect">
            <a:avLst/>
          </a:prstGeom>
          <a:noFill/>
        </p:spPr>
        <p:txBody>
          <a:bodyPr wrap="square" anchor="ctr" lIns="45720" rIns="45720">
            <a:spAutoFit/>
          </a:bodyPr>
          <a:lstStyle/>
          <a:p>
            <a:pPr algn="ctr">
              <a:spcAft>
                <a:spcPts val="400"/>
              </a:spcAft>
            </a:pPr>
            <a:r>
              <a:rPr sz="1600" b="1">
                <a:solidFill>
                  <a:srgbClr val="FFFFFF"/>
                </a:solidFill>
                <a:latin typeface="Calibri"/>
              </a:rPr>
              <a:t>Banque</a:t>
            </a:r>
          </a:p>
          <a:p>
            <a:pPr algn="ctr">
              <a:spcAft>
                <a:spcPts val="400"/>
              </a:spcAft>
            </a:pPr>
            <a:r>
              <a:rPr sz="1200" b="0">
                <a:solidFill>
                  <a:srgbClr val="E0E7FF"/>
                </a:solidFill>
                <a:latin typeface="Calibri"/>
              </a:rPr>
              <a:t>Exécution des virements</a:t>
            </a:r>
          </a:p>
        </p:txBody>
      </p:sp>
      <p:sp>
        <p:nvSpPr>
          <p:cNvPr id="19" name="TextBox 18"/>
          <p:cNvSpPr txBox="1"/>
          <p:nvPr/>
        </p:nvSpPr>
        <p:spPr>
          <a:xfrm>
            <a:off x="457200" y="3017519"/>
            <a:ext cx="11274552" cy="365760"/>
          </a:xfrm>
          <a:prstGeom prst="rect">
            <a:avLst/>
          </a:prstGeom>
          <a:noFill/>
        </p:spPr>
        <p:txBody>
          <a:bodyPr wrap="square" anchor="t" lIns="45720" rIns="45720">
            <a:spAutoFit/>
          </a:bodyPr>
          <a:lstStyle/>
          <a:p>
            <a:pPr algn="l">
              <a:spcAft>
                <a:spcPts val="400"/>
              </a:spcAft>
            </a:pPr>
            <a:r>
              <a:rPr sz="1600" b="1">
                <a:solidFill>
                  <a:srgbClr val="1F2235"/>
                </a:solidFill>
                <a:latin typeface="Calibri"/>
              </a:rPr>
              <a:t>Les trois blocs d'un message pain.001 (Customer Credit Transfer Initiation)</a:t>
            </a:r>
          </a:p>
        </p:txBody>
      </p:sp>
      <p:graphicFrame>
        <p:nvGraphicFramePr>
          <p:cNvPr id="20" name="Table 19"/>
          <p:cNvGraphicFramePr>
            <a:graphicFrameLocks noGrp="1"/>
          </p:cNvGraphicFramePr>
          <p:nvPr/>
        </p:nvGraphicFramePr>
        <p:xfrm>
          <a:off x="457200" y="3429000"/>
          <a:ext cx="11274551" cy="2011680"/>
        </p:xfrm>
        <a:graphic>
          <a:graphicData uri="http://schemas.openxmlformats.org/drawingml/2006/table">
            <a:tbl>
              <a:tblPr firstRow="1" bandRow="1">
                <a:tableStyleId>{5C22544A-7EE6-4342-B048-85BDC9FD1C3A}</a:tableStyleId>
              </a:tblPr>
              <a:tblGrid>
                <a:gridCol w="2383238"/>
                <a:gridCol w="8891313"/>
              </a:tblGrid>
              <a:tr h="502920">
                <a:tc>
                  <a:txBody>
                    <a:bodyPr wrap="square"/>
                    <a:lstStyle/>
                    <a:p>
                      <a:r>
                        <a:rPr sz="1200" b="1">
                          <a:solidFill>
                            <a:srgbClr val="FFFFFF"/>
                          </a:solidFill>
                          <a:latin typeface="Calibri"/>
                        </a:rPr>
                        <a:t>Bloc</a:t>
                      </a:r>
                    </a:p>
                  </a:txBody>
                  <a:tcPr marL="54864" marR="54864" marT="27432" marB="27432" anchor="ctr">
                    <a:solidFill>
                      <a:srgbClr val="1F2235"/>
                    </a:solidFill>
                  </a:tcPr>
                </a:tc>
                <a:tc>
                  <a:txBody>
                    <a:bodyPr wrap="square"/>
                    <a:lstStyle/>
                    <a:p>
                      <a:r>
                        <a:rPr sz="1200" b="1">
                          <a:solidFill>
                            <a:srgbClr val="FFFFFF"/>
                          </a:solidFill>
                          <a:latin typeface="Calibri"/>
                        </a:rPr>
                        <a:t>Contenu</a:t>
                      </a:r>
                    </a:p>
                  </a:txBody>
                  <a:tcPr marL="54864" marR="54864" marT="27432" marB="27432" anchor="ctr">
                    <a:solidFill>
                      <a:srgbClr val="1F2235"/>
                    </a:solidFill>
                  </a:tcPr>
                </a:tc>
              </a:tr>
              <a:tr h="502920">
                <a:tc>
                  <a:txBody>
                    <a:bodyPr wrap="square"/>
                    <a:lstStyle/>
                    <a:p>
                      <a:r>
                        <a:rPr sz="1200" b="1">
                          <a:solidFill>
                            <a:srgbClr val="111827"/>
                          </a:solidFill>
                          <a:latin typeface="Calibri"/>
                        </a:rPr>
                        <a:t>GrpHdr — en-tête</a:t>
                      </a:r>
                    </a:p>
                  </a:txBody>
                  <a:tcPr marL="54864" marR="54864" marT="27432" marB="27432" anchor="ctr">
                    <a:solidFill>
                      <a:srgbClr val="FFFFFF"/>
                    </a:solidFill>
                  </a:tcPr>
                </a:tc>
                <a:tc>
                  <a:txBody>
                    <a:bodyPr wrap="square"/>
                    <a:lstStyle/>
                    <a:p>
                      <a:r>
                        <a:rPr sz="1200" b="0">
                          <a:solidFill>
                            <a:srgbClr val="111827"/>
                          </a:solidFill>
                          <a:latin typeface="Calibri"/>
                        </a:rPr>
                        <a:t>Identifiant du message, date de création, nombre de transactions (NbOfTxs), somme de contrôle (CtrlSum), donneur d'ordre</a:t>
                      </a:r>
                    </a:p>
                  </a:txBody>
                  <a:tcPr marL="54864" marR="54864" marT="27432" marB="27432" anchor="ctr">
                    <a:solidFill>
                      <a:srgbClr val="FFFFFF"/>
                    </a:solidFill>
                  </a:tcPr>
                </a:tc>
              </a:tr>
              <a:tr h="502920">
                <a:tc>
                  <a:txBody>
                    <a:bodyPr wrap="square"/>
                    <a:lstStyle/>
                    <a:p>
                      <a:r>
                        <a:rPr sz="1200" b="1">
                          <a:solidFill>
                            <a:srgbClr val="111827"/>
                          </a:solidFill>
                          <a:latin typeface="Calibri"/>
                        </a:rPr>
                        <a:t>PmtInf — lot</a:t>
                      </a:r>
                    </a:p>
                  </a:txBody>
                  <a:tcPr marL="54864" marR="54864" marT="27432" marB="27432" anchor="ctr">
                    <a:solidFill>
                      <a:srgbClr val="EEF0FF"/>
                    </a:solidFill>
                  </a:tcPr>
                </a:tc>
                <a:tc>
                  <a:txBody>
                    <a:bodyPr wrap="square"/>
                    <a:lstStyle/>
                    <a:p>
                      <a:r>
                        <a:rPr sz="1200" b="0">
                          <a:solidFill>
                            <a:srgbClr val="111827"/>
                          </a:solidFill>
                          <a:latin typeface="Calibri"/>
                        </a:rPr>
                        <a:t>Catégorie SALA, date d'exécution, société débitrice, IBAN et banque du débiteur</a:t>
                      </a:r>
                    </a:p>
                  </a:txBody>
                  <a:tcPr marL="54864" marR="54864" marT="27432" marB="27432" anchor="ctr">
                    <a:solidFill>
                      <a:srgbClr val="EEF0FF"/>
                    </a:solidFill>
                  </a:tcPr>
                </a:tc>
              </a:tr>
              <a:tr h="502920">
                <a:tc>
                  <a:txBody>
                    <a:bodyPr wrap="square"/>
                    <a:lstStyle/>
                    <a:p>
                      <a:r>
                        <a:rPr sz="1200" b="1">
                          <a:solidFill>
                            <a:srgbClr val="111827"/>
                          </a:solidFill>
                          <a:latin typeface="Calibri"/>
                        </a:rPr>
                        <a:t>CdtTrfTxInf — virement</a:t>
                      </a:r>
                    </a:p>
                  </a:txBody>
                  <a:tcPr marL="54864" marR="54864" marT="27432" marB="27432" anchor="ctr">
                    <a:solidFill>
                      <a:srgbClr val="FFFFFF"/>
                    </a:solidFill>
                  </a:tcPr>
                </a:tc>
                <a:tc>
                  <a:txBody>
                    <a:bodyPr wrap="square"/>
                    <a:lstStyle/>
                    <a:p>
                      <a:r>
                        <a:rPr sz="1200" b="0">
                          <a:solidFill>
                            <a:srgbClr val="111827"/>
                          </a:solidFill>
                          <a:latin typeface="Calibri"/>
                        </a:rPr>
                        <a:t>EndToEndId, montant, salarié bénéficiaire, IBAN, BIC ou BICFI selon la version, libellé</a:t>
                      </a:r>
                    </a:p>
                  </a:txBody>
                  <a:tcPr marL="54864" marR="54864" marT="27432" marB="27432" anchor="ctr">
                    <a:solidFill>
                      <a:srgbClr val="FFFFFF"/>
                    </a:solidFill>
                  </a:tcPr>
                </a:tc>
              </a:tr>
            </a:tbl>
          </a:graphicData>
        </a:graphic>
      </p:graphicFrame>
      <p:sp>
        <p:nvSpPr>
          <p:cNvPr id="21" name="TextBox 20"/>
          <p:cNvSpPr txBox="1"/>
          <p:nvPr/>
        </p:nvSpPr>
        <p:spPr>
          <a:xfrm>
            <a:off x="457200" y="5577840"/>
            <a:ext cx="11274552" cy="640080"/>
          </a:xfrm>
          <a:prstGeom prst="rect">
            <a:avLst/>
          </a:prstGeom>
          <a:noFill/>
        </p:spPr>
        <p:txBody>
          <a:bodyPr wrap="square" anchor="t" lIns="45720" rIns="45720">
            <a:spAutoFit/>
          </a:bodyPr>
          <a:lstStyle/>
          <a:p>
            <a:pPr algn="l">
              <a:spcAft>
                <a:spcPts val="400"/>
              </a:spcAft>
            </a:pPr>
            <a:r>
              <a:rPr sz="1300" b="0">
                <a:solidFill>
                  <a:srgbClr val="6B7280"/>
                </a:solidFill>
                <a:latin typeface="Calibri"/>
              </a:rPr>
              <a:t>Plusieurs versions coexistent chez les banques (pain.001.001.03, .09…) : la structure change d'une version à l'autre (ex. BIC → BICFI, date simple → ReqdExctnDt/Dt).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Problématique</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Contexte et problématique</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5 / 21</a:t>
            </a:r>
          </a:p>
        </p:txBody>
      </p:sp>
      <p:sp>
        <p:nvSpPr>
          <p:cNvPr id="8" name="Rounded Rectangle 7"/>
          <p:cNvSpPr/>
          <p:nvPr/>
        </p:nvSpPr>
        <p:spPr>
          <a:xfrm>
            <a:off x="457200"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402336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3377184"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Conformité structurelle</a:t>
            </a:r>
          </a:p>
        </p:txBody>
      </p:sp>
      <p:sp>
        <p:nvSpPr>
          <p:cNvPr id="11" name="TextBox 10"/>
          <p:cNvSpPr txBox="1"/>
          <p:nvPr/>
        </p:nvSpPr>
        <p:spPr>
          <a:xfrm>
            <a:off x="621792"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Respect du XSD officiel EPC</a:t>
            </a:r>
          </a:p>
          <a:p>
            <a:pPr algn="l">
              <a:spcAft>
                <a:spcPts val="400"/>
              </a:spcAft>
            </a:pPr>
            <a:r>
              <a:rPr sz="1300" b="0">
                <a:solidFill>
                  <a:srgbClr val="111827"/>
                </a:solidFill>
                <a:latin typeface="Calibri"/>
              </a:rPr>
              <a:t>• Plusieurs versions selon la banque</a:t>
            </a:r>
          </a:p>
          <a:p>
            <a:pPr algn="l">
              <a:spcAft>
                <a:spcPts val="400"/>
              </a:spcAft>
            </a:pPr>
            <a:r>
              <a:rPr sz="1300" b="0">
                <a:solidFill>
                  <a:srgbClr val="111827"/>
                </a:solidFill>
                <a:latin typeface="Calibri"/>
              </a:rPr>
              <a:t>• Toute déviation = rejet immédiat</a:t>
            </a:r>
          </a:p>
        </p:txBody>
      </p:sp>
      <p:sp>
        <p:nvSpPr>
          <p:cNvPr id="12" name="Rounded Rectangle 11"/>
          <p:cNvSpPr/>
          <p:nvPr/>
        </p:nvSpPr>
        <p:spPr>
          <a:xfrm>
            <a:off x="4291584"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1584" y="1143000"/>
            <a:ext cx="73152" cy="402336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6176" y="1216152"/>
            <a:ext cx="3377184" cy="411480"/>
          </a:xfrm>
          <a:prstGeom prst="rect">
            <a:avLst/>
          </a:prstGeom>
          <a:noFill/>
        </p:spPr>
        <p:txBody>
          <a:bodyPr wrap="square" anchor="t" lIns="45720" rIns="45720">
            <a:spAutoFit/>
          </a:bodyPr>
          <a:lstStyle/>
          <a:p>
            <a:pPr algn="l">
              <a:spcAft>
                <a:spcPts val="400"/>
              </a:spcAft>
            </a:pPr>
            <a:r>
              <a:rPr sz="1500" b="1">
                <a:solidFill>
                  <a:srgbClr val="1F2235"/>
                </a:solidFill>
                <a:latin typeface="Calibri"/>
              </a:rPr>
              <a:t>Conformité réglementaire</a:t>
            </a:r>
          </a:p>
        </p:txBody>
      </p:sp>
      <p:sp>
        <p:nvSpPr>
          <p:cNvPr id="15" name="TextBox 14"/>
          <p:cNvSpPr txBox="1"/>
          <p:nvPr/>
        </p:nvSpPr>
        <p:spPr>
          <a:xfrm>
            <a:off x="4456176"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IBAN : ISO 13616, clé MOD-97</a:t>
            </a:r>
          </a:p>
          <a:p>
            <a:pPr algn="l">
              <a:spcAft>
                <a:spcPts val="400"/>
              </a:spcAft>
            </a:pPr>
            <a:r>
              <a:rPr sz="1300" b="0">
                <a:solidFill>
                  <a:srgbClr val="111827"/>
                </a:solidFill>
                <a:latin typeface="Calibri"/>
              </a:rPr>
              <a:t>• BIC : ISO 9362, 8 ou 11 caractères</a:t>
            </a:r>
          </a:p>
        </p:txBody>
      </p:sp>
      <p:sp>
        <p:nvSpPr>
          <p:cNvPr id="16" name="Rounded Rectangle 15"/>
          <p:cNvSpPr/>
          <p:nvPr/>
        </p:nvSpPr>
        <p:spPr>
          <a:xfrm>
            <a:off x="8125968"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5968" y="1143000"/>
            <a:ext cx="73152" cy="40233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560" y="1216152"/>
            <a:ext cx="3377184" cy="411480"/>
          </a:xfrm>
          <a:prstGeom prst="rect">
            <a:avLst/>
          </a:prstGeom>
          <a:noFill/>
        </p:spPr>
        <p:txBody>
          <a:bodyPr wrap="square" anchor="t" lIns="45720" rIns="45720">
            <a:spAutoFit/>
          </a:bodyPr>
          <a:lstStyle/>
          <a:p>
            <a:pPr algn="l">
              <a:spcAft>
                <a:spcPts val="400"/>
              </a:spcAft>
            </a:pPr>
            <a:r>
              <a:rPr sz="1500" b="1">
                <a:solidFill>
                  <a:srgbClr val="16A34A"/>
                </a:solidFill>
                <a:latin typeface="Calibri"/>
              </a:rPr>
              <a:t>Conformité métier</a:t>
            </a:r>
          </a:p>
        </p:txBody>
      </p:sp>
      <p:sp>
        <p:nvSpPr>
          <p:cNvPr id="19" name="TextBox 18"/>
          <p:cNvSpPr txBox="1"/>
          <p:nvPr/>
        </p:nvSpPr>
        <p:spPr>
          <a:xfrm>
            <a:off x="8290560"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Montants positifs et plausibles</a:t>
            </a:r>
          </a:p>
          <a:p>
            <a:pPr algn="l">
              <a:spcAft>
                <a:spcPts val="400"/>
              </a:spcAft>
            </a:pPr>
            <a:r>
              <a:rPr sz="1300" b="0">
                <a:solidFill>
                  <a:srgbClr val="111827"/>
                </a:solidFill>
                <a:latin typeface="Calibri"/>
              </a:rPr>
              <a:t>• Net ≤ brut</a:t>
            </a:r>
          </a:p>
          <a:p>
            <a:pPr algn="l">
              <a:spcAft>
                <a:spcPts val="400"/>
              </a:spcAft>
            </a:pPr>
            <a:r>
              <a:rPr sz="1300" b="0">
                <a:solidFill>
                  <a:srgbClr val="111827"/>
                </a:solidFill>
                <a:latin typeface="Calibri"/>
              </a:rPr>
              <a:t>• Pas de doublon salarié / période</a:t>
            </a:r>
          </a:p>
        </p:txBody>
      </p:sp>
      <p:sp>
        <p:nvSpPr>
          <p:cNvPr id="20" name="Rounded Rectangle 19"/>
          <p:cNvSpPr/>
          <p:nvPr/>
        </p:nvSpPr>
        <p:spPr>
          <a:xfrm>
            <a:off x="457200" y="5349240"/>
            <a:ext cx="11274552" cy="960120"/>
          </a:xfrm>
          <a:prstGeom prst="roundRect">
            <a:avLst>
              <a:gd name="adj" fmla="val 10000"/>
            </a:avLst>
          </a:prstGeom>
          <a:solidFill>
            <a:srgbClr val="EEF0FF"/>
          </a:solidFill>
          <a:ln>
            <a:solidFill>
              <a:srgbClr val="464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49240"/>
            <a:ext cx="10908792" cy="960120"/>
          </a:xfrm>
          <a:prstGeom prst="rect">
            <a:avLst/>
          </a:prstGeom>
          <a:noFill/>
        </p:spPr>
        <p:txBody>
          <a:bodyPr wrap="square" anchor="ctr" lIns="45720" rIns="45720">
            <a:spAutoFit/>
          </a:bodyPr>
          <a:lstStyle/>
          <a:p>
            <a:pPr algn="ctr">
              <a:spcAft>
                <a:spcPts val="400"/>
              </a:spcAft>
            </a:pPr>
            <a:r>
              <a:rPr sz="1600" b="1">
                <a:solidFill>
                  <a:srgbClr val="1F2235"/>
                </a:solidFill>
                <a:latin typeface="Calibri"/>
              </a:rPr>
              <a:t>Comment industrialiser la génération des fichiers SEPA en garantissant le respect dynamique du XSD, la détection intelligente des anomalies avant envoi, la traçabilité et le pilotage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Étude de l'existant</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Existant et solution</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6 / 21</a:t>
            </a:r>
          </a:p>
        </p:txBody>
      </p:sp>
      <p:graphicFrame>
        <p:nvGraphicFramePr>
          <p:cNvPr id="8" name="Table 7"/>
          <p:cNvGraphicFramePr>
            <a:graphicFrameLocks noGrp="1"/>
          </p:cNvGraphicFramePr>
          <p:nvPr/>
        </p:nvGraphicFramePr>
        <p:xfrm>
          <a:off x="457200" y="1143000"/>
          <a:ext cx="11274551" cy="4114800"/>
        </p:xfrm>
        <a:graphic>
          <a:graphicData uri="http://schemas.openxmlformats.org/drawingml/2006/table">
            <a:tbl>
              <a:tblPr firstRow="1" bandRow="1">
                <a:tableStyleId>{5C22544A-7EE6-4342-B048-85BDC9FD1C3A}</a:tableStyleId>
              </a:tblPr>
              <a:tblGrid>
                <a:gridCol w="3091409"/>
                <a:gridCol w="2727714"/>
                <a:gridCol w="2727714"/>
                <a:gridCol w="2727714"/>
              </a:tblGrid>
              <a:tr h="457200">
                <a:tc>
                  <a:txBody>
                    <a:bodyPr wrap="square"/>
                    <a:lstStyle/>
                    <a:p>
                      <a:r>
                        <a:rPr sz="1300" b="1">
                          <a:solidFill>
                            <a:srgbClr val="FFFFFF"/>
                          </a:solidFill>
                          <a:latin typeface="Calibri"/>
                        </a:rPr>
                        <a:t>Critère</a:t>
                      </a:r>
                    </a:p>
                  </a:txBody>
                  <a:tcPr marL="54864" marR="54864" marT="27432" marB="27432" anchor="ctr">
                    <a:solidFill>
                      <a:srgbClr val="1F2235"/>
                    </a:solidFill>
                  </a:tcPr>
                </a:tc>
                <a:tc>
                  <a:txBody>
                    <a:bodyPr wrap="square"/>
                    <a:lstStyle/>
                    <a:p>
                      <a:r>
                        <a:rPr sz="1300" b="1">
                          <a:solidFill>
                            <a:srgbClr val="FFFFFF"/>
                          </a:solidFill>
                          <a:latin typeface="Calibri"/>
                        </a:rPr>
                        <a:t>Scripts internes HR Access</a:t>
                      </a:r>
                    </a:p>
                  </a:txBody>
                  <a:tcPr marL="54864" marR="54864" marT="27432" marB="27432" anchor="ctr">
                    <a:solidFill>
                      <a:srgbClr val="1F2235"/>
                    </a:solidFill>
                  </a:tcPr>
                </a:tc>
                <a:tc>
                  <a:txBody>
                    <a:bodyPr wrap="square"/>
                    <a:lstStyle/>
                    <a:p>
                      <a:r>
                        <a:rPr sz="1300" b="1">
                          <a:solidFill>
                            <a:srgbClr val="FFFFFF"/>
                          </a:solidFill>
                          <a:latin typeface="Calibri"/>
                        </a:rPr>
                        <a:t>Modules SEPA (Sage, Cegid)</a:t>
                      </a:r>
                    </a:p>
                  </a:txBody>
                  <a:tcPr marL="54864" marR="54864" marT="27432" marB="27432" anchor="ctr">
                    <a:solidFill>
                      <a:srgbClr val="1F2235"/>
                    </a:solidFill>
                  </a:tcPr>
                </a:tc>
                <a:tc>
                  <a:txBody>
                    <a:bodyPr wrap="square"/>
                    <a:lstStyle/>
                    <a:p>
                      <a:r>
                        <a:rPr sz="1300" b="1">
                          <a:solidFill>
                            <a:srgbClr val="FFFFFF"/>
                          </a:solidFill>
                          <a:latin typeface="Calibri"/>
                        </a:rPr>
                        <a:t>Validateurs XSD génériques</a:t>
                      </a:r>
                    </a:p>
                  </a:txBody>
                  <a:tcPr marL="54864" marR="54864" marT="27432" marB="27432" anchor="ctr">
                    <a:solidFill>
                      <a:srgbClr val="1F2235"/>
                    </a:solidFill>
                  </a:tcPr>
                </a:tc>
              </a:tr>
              <a:tr h="457200">
                <a:tc>
                  <a:txBody>
                    <a:bodyPr wrap="square"/>
                    <a:lstStyle/>
                    <a:p>
                      <a:r>
                        <a:rPr sz="1300" b="1">
                          <a:solidFill>
                            <a:srgbClr val="111827"/>
                          </a:solidFill>
                          <a:latin typeface="Calibri"/>
                        </a:rPr>
                        <a:t>Génération pain.001 multi-versions</a:t>
                      </a:r>
                    </a:p>
                  </a:txBody>
                  <a:tcPr marL="54864" marR="54864" marT="27432" marB="27432" anchor="ctr">
                    <a:solidFill>
                      <a:srgbClr val="FFFFFF"/>
                    </a:solidFill>
                  </a:tcPr>
                </a:tc>
                <a:tc>
                  <a:txBody>
                    <a:bodyPr wrap="square"/>
                    <a:lstStyle/>
                    <a:p>
                      <a:r>
                        <a:rPr sz="1300" b="0">
                          <a:solidFill>
                            <a:srgbClr val="111827"/>
                          </a:solidFill>
                          <a:latin typeface="Calibri"/>
                        </a:rPr>
                        <a:t>Non (version figée)</a:t>
                      </a:r>
                    </a:p>
                  </a:txBody>
                  <a:tcPr marL="54864" marR="54864" marT="27432" marB="27432" anchor="ctr">
                    <a:solidFill>
                      <a:srgbClr val="FFFFFF"/>
                    </a:solidFill>
                  </a:tcPr>
                </a:tc>
                <a:tc>
                  <a:txBody>
                    <a:bodyPr wrap="square"/>
                    <a:lstStyle/>
                    <a:p>
                      <a:r>
                        <a:rPr sz="1300" b="0">
                          <a:solidFill>
                            <a:srgbClr val="111827"/>
                          </a:solidFill>
                          <a:latin typeface="Calibri"/>
                        </a:rPr>
                        <a:t>Oui, mais fermée</a:t>
                      </a:r>
                    </a:p>
                  </a:txBody>
                  <a:tcPr marL="54864" marR="54864" marT="27432" marB="27432" anchor="ctr">
                    <a:solidFill>
                      <a:srgbClr val="FFFFFF"/>
                    </a:solidFill>
                  </a:tcPr>
                </a:tc>
                <a:tc>
                  <a:txBody>
                    <a:bodyPr wrap="square"/>
                    <a:lstStyle/>
                    <a:p>
                      <a:r>
                        <a:rPr sz="1300" b="0">
                          <a:solidFill>
                            <a:srgbClr val="111827"/>
                          </a:solidFill>
                          <a:latin typeface="Calibri"/>
                        </a:rPr>
                        <a:t>Non</a:t>
                      </a:r>
                    </a:p>
                  </a:txBody>
                  <a:tcPr marL="54864" marR="54864" marT="27432" marB="27432" anchor="ctr">
                    <a:solidFill>
                      <a:srgbClr val="FFFFFF"/>
                    </a:solidFill>
                  </a:tcPr>
                </a:tc>
              </a:tr>
              <a:tr h="457200">
                <a:tc>
                  <a:txBody>
                    <a:bodyPr wrap="square"/>
                    <a:lstStyle/>
                    <a:p>
                      <a:r>
                        <a:rPr sz="1300" b="1">
                          <a:solidFill>
                            <a:srgbClr val="111827"/>
                          </a:solidFill>
                          <a:latin typeface="Calibri"/>
                        </a:rPr>
                        <a:t>Validation XSD ISO 20022</a:t>
                      </a:r>
                    </a:p>
                  </a:txBody>
                  <a:tcPr marL="54864" marR="54864" marT="27432" marB="27432" anchor="ctr">
                    <a:solidFill>
                      <a:srgbClr val="EEF0FF"/>
                    </a:solidFill>
                  </a:tcPr>
                </a:tc>
                <a:tc>
                  <a:txBody>
                    <a:bodyPr wrap="square"/>
                    <a:lstStyle/>
                    <a:p>
                      <a:r>
                        <a:rPr sz="1300" b="0">
                          <a:solidFill>
                            <a:srgbClr val="111827"/>
                          </a:solidFill>
                          <a:latin typeface="Calibri"/>
                        </a:rPr>
                        <a:t>Manuelle</a:t>
                      </a:r>
                    </a:p>
                  </a:txBody>
                  <a:tcPr marL="54864" marR="54864" marT="27432" marB="27432" anchor="ctr">
                    <a:solidFill>
                      <a:srgbClr val="EEF0FF"/>
                    </a:solidFill>
                  </a:tcPr>
                </a:tc>
                <a:tc>
                  <a:txBody>
                    <a:bodyPr wrap="square"/>
                    <a:lstStyle/>
                    <a:p>
                      <a:r>
                        <a:rPr sz="1300" b="0">
                          <a:solidFill>
                            <a:srgbClr val="111827"/>
                          </a:solidFill>
                          <a:latin typeface="Calibri"/>
                        </a:rPr>
                        <a:t>Intégrée</a:t>
                      </a:r>
                    </a:p>
                  </a:txBody>
                  <a:tcPr marL="54864" marR="54864" marT="27432" marB="27432" anchor="ctr">
                    <a:solidFill>
                      <a:srgbClr val="EEF0FF"/>
                    </a:solidFill>
                  </a:tcPr>
                </a:tc>
                <a:tc>
                  <a:txBody>
                    <a:bodyPr wrap="square"/>
                    <a:lstStyle/>
                    <a:p>
                      <a:r>
                        <a:rPr sz="1300" b="0">
                          <a:solidFill>
                            <a:srgbClr val="111827"/>
                          </a:solidFill>
                          <a:latin typeface="Calibri"/>
                        </a:rPr>
                        <a:t>Oui</a:t>
                      </a:r>
                    </a:p>
                  </a:txBody>
                  <a:tcPr marL="54864" marR="54864" marT="27432" marB="27432" anchor="ctr">
                    <a:solidFill>
                      <a:srgbClr val="EEF0FF"/>
                    </a:solidFill>
                  </a:tcPr>
                </a:tc>
              </a:tr>
              <a:tr h="457200">
                <a:tc>
                  <a:txBody>
                    <a:bodyPr wrap="square"/>
                    <a:lstStyle/>
                    <a:p>
                      <a:r>
                        <a:rPr sz="1300" b="1">
                          <a:solidFill>
                            <a:srgbClr val="111827"/>
                          </a:solidFill>
                          <a:latin typeface="Calibri"/>
                        </a:rPr>
                        <a:t>Contrôles IBAN / BIC</a:t>
                      </a:r>
                    </a:p>
                  </a:txBody>
                  <a:tcPr marL="54864" marR="54864" marT="27432" marB="27432" anchor="ctr">
                    <a:solidFill>
                      <a:srgbClr val="FFFFFF"/>
                    </a:solidFill>
                  </a:tcPr>
                </a:tc>
                <a:tc>
                  <a:txBody>
                    <a:bodyPr wrap="square"/>
                    <a:lstStyle/>
                    <a:p>
                      <a:r>
                        <a:rPr sz="1300" b="0">
                          <a:solidFill>
                            <a:srgbClr val="111827"/>
                          </a:solidFill>
                          <a:latin typeface="Calibri"/>
                        </a:rPr>
                        <a:t>Non systématiques</a:t>
                      </a:r>
                    </a:p>
                  </a:txBody>
                  <a:tcPr marL="54864" marR="54864" marT="27432" marB="27432" anchor="ctr">
                    <a:solidFill>
                      <a:srgbClr val="FFFFFF"/>
                    </a:solidFill>
                  </a:tcPr>
                </a:tc>
                <a:tc>
                  <a:txBody>
                    <a:bodyPr wrap="square"/>
                    <a:lstStyle/>
                    <a:p>
                      <a:r>
                        <a:rPr sz="1300" b="0">
                          <a:solidFill>
                            <a:srgbClr val="111827"/>
                          </a:solidFill>
                          <a:latin typeface="Calibri"/>
                        </a:rPr>
                        <a:t>Oui</a:t>
                      </a:r>
                    </a:p>
                  </a:txBody>
                  <a:tcPr marL="54864" marR="54864" marT="27432" marB="27432" anchor="ctr">
                    <a:solidFill>
                      <a:srgbClr val="FFFFFF"/>
                    </a:solidFill>
                  </a:tcPr>
                </a:tc>
                <a:tc>
                  <a:txBody>
                    <a:bodyPr wrap="square"/>
                    <a:lstStyle/>
                    <a:p>
                      <a:r>
                        <a:rPr sz="1300" b="0">
                          <a:solidFill>
                            <a:srgbClr val="111827"/>
                          </a:solidFill>
                          <a:latin typeface="Calibri"/>
                        </a:rPr>
                        <a:t>Non</a:t>
                      </a:r>
                    </a:p>
                  </a:txBody>
                  <a:tcPr marL="54864" marR="54864" marT="27432" marB="27432" anchor="ctr">
                    <a:solidFill>
                      <a:srgbClr val="FFFFFF"/>
                    </a:solidFill>
                  </a:tcPr>
                </a:tc>
              </a:tr>
              <a:tr h="457200">
                <a:tc>
                  <a:txBody>
                    <a:bodyPr wrap="square"/>
                    <a:lstStyle/>
                    <a:p>
                      <a:r>
                        <a:rPr sz="1300" b="1">
                          <a:solidFill>
                            <a:srgbClr val="111827"/>
                          </a:solidFill>
                          <a:latin typeface="Calibri"/>
                        </a:rPr>
                        <a:t>Doublons métier</a:t>
                      </a:r>
                    </a:p>
                  </a:txBody>
                  <a:tcPr marL="54864" marR="54864" marT="27432" marB="27432" anchor="ctr">
                    <a:solidFill>
                      <a:srgbClr val="EEF0FF"/>
                    </a:solidFill>
                  </a:tcPr>
                </a:tc>
                <a:tc>
                  <a:txBody>
                    <a:bodyPr wrap="square"/>
                    <a:lstStyle/>
                    <a:p>
                      <a:r>
                        <a:rPr sz="1300" b="0">
                          <a:solidFill>
                            <a:srgbClr val="111827"/>
                          </a:solidFill>
                          <a:latin typeface="Calibri"/>
                        </a:rPr>
                        <a:t>Non</a:t>
                      </a:r>
                    </a:p>
                  </a:txBody>
                  <a:tcPr marL="54864" marR="54864" marT="27432" marB="27432" anchor="ctr">
                    <a:solidFill>
                      <a:srgbClr val="EEF0FF"/>
                    </a:solidFill>
                  </a:tcPr>
                </a:tc>
                <a:tc>
                  <a:txBody>
                    <a:bodyPr wrap="square"/>
                    <a:lstStyle/>
                    <a:p>
                      <a:r>
                        <a:rPr sz="1300" b="0">
                          <a:solidFill>
                            <a:srgbClr val="111827"/>
                          </a:solidFill>
                          <a:latin typeface="Calibri"/>
                        </a:rPr>
                        <a:t>Limitée</a:t>
                      </a:r>
                    </a:p>
                  </a:txBody>
                  <a:tcPr marL="54864" marR="54864" marT="27432" marB="27432" anchor="ctr">
                    <a:solidFill>
                      <a:srgbClr val="EEF0FF"/>
                    </a:solidFill>
                  </a:tcPr>
                </a:tc>
                <a:tc>
                  <a:txBody>
                    <a:bodyPr wrap="square"/>
                    <a:lstStyle/>
                    <a:p>
                      <a:r>
                        <a:rPr sz="1300" b="0">
                          <a:solidFill>
                            <a:srgbClr val="111827"/>
                          </a:solidFill>
                          <a:latin typeface="Calibri"/>
                        </a:rPr>
                        <a:t>Non</a:t>
                      </a:r>
                    </a:p>
                  </a:txBody>
                  <a:tcPr marL="54864" marR="54864" marT="27432" marB="27432" anchor="ctr">
                    <a:solidFill>
                      <a:srgbClr val="EEF0FF"/>
                    </a:solidFill>
                  </a:tcPr>
                </a:tc>
              </a:tr>
              <a:tr h="457200">
                <a:tc>
                  <a:txBody>
                    <a:bodyPr wrap="square"/>
                    <a:lstStyle/>
                    <a:p>
                      <a:r>
                        <a:rPr sz="1300" b="1">
                          <a:solidFill>
                            <a:srgbClr val="111827"/>
                          </a:solidFill>
                          <a:latin typeface="Calibri"/>
                        </a:rPr>
                        <a:t>Montants aberrants (IA)</a:t>
                      </a:r>
                    </a:p>
                  </a:txBody>
                  <a:tcPr marL="54864" marR="54864" marT="27432" marB="27432" anchor="ctr">
                    <a:solidFill>
                      <a:srgbClr val="FFFFFF"/>
                    </a:solidFill>
                  </a:tcPr>
                </a:tc>
                <a:tc>
                  <a:txBody>
                    <a:bodyPr wrap="square"/>
                    <a:lstStyle/>
                    <a:p>
                      <a:r>
                        <a:rPr sz="1300" b="0">
                          <a:solidFill>
                            <a:srgbClr val="111827"/>
                          </a:solidFill>
                          <a:latin typeface="Calibri"/>
                        </a:rPr>
                        <a:t>Non</a:t>
                      </a:r>
                    </a:p>
                  </a:txBody>
                  <a:tcPr marL="54864" marR="54864" marT="27432" marB="27432" anchor="ctr">
                    <a:solidFill>
                      <a:srgbClr val="FFFFFF"/>
                    </a:solidFill>
                  </a:tcPr>
                </a:tc>
                <a:tc>
                  <a:txBody>
                    <a:bodyPr wrap="square"/>
                    <a:lstStyle/>
                    <a:p>
                      <a:r>
                        <a:rPr sz="1300" b="0">
                          <a:solidFill>
                            <a:srgbClr val="111827"/>
                          </a:solidFill>
                          <a:latin typeface="Calibri"/>
                        </a:rPr>
                        <a:t>Non</a:t>
                      </a:r>
                    </a:p>
                  </a:txBody>
                  <a:tcPr marL="54864" marR="54864" marT="27432" marB="27432" anchor="ctr">
                    <a:solidFill>
                      <a:srgbClr val="FFFFFF"/>
                    </a:solidFill>
                  </a:tcPr>
                </a:tc>
                <a:tc>
                  <a:txBody>
                    <a:bodyPr wrap="square"/>
                    <a:lstStyle/>
                    <a:p>
                      <a:r>
                        <a:rPr sz="1300" b="0">
                          <a:solidFill>
                            <a:srgbClr val="111827"/>
                          </a:solidFill>
                          <a:latin typeface="Calibri"/>
                        </a:rPr>
                        <a:t>Non</a:t>
                      </a:r>
                    </a:p>
                  </a:txBody>
                  <a:tcPr marL="54864" marR="54864" marT="27432" marB="27432" anchor="ctr">
                    <a:solidFill>
                      <a:srgbClr val="FFFFFF"/>
                    </a:solidFill>
                  </a:tcPr>
                </a:tc>
              </a:tr>
              <a:tr h="457200">
                <a:tc>
                  <a:txBody>
                    <a:bodyPr wrap="square"/>
                    <a:lstStyle/>
                    <a:p>
                      <a:r>
                        <a:rPr sz="1300" b="1">
                          <a:solidFill>
                            <a:srgbClr val="111827"/>
                          </a:solidFill>
                          <a:latin typeface="Calibri"/>
                        </a:rPr>
                        <a:t>Journal d'audit et KPI</a:t>
                      </a:r>
                    </a:p>
                  </a:txBody>
                  <a:tcPr marL="54864" marR="54864" marT="27432" marB="27432" anchor="ctr">
                    <a:solidFill>
                      <a:srgbClr val="EEF0FF"/>
                    </a:solidFill>
                  </a:tcPr>
                </a:tc>
                <a:tc>
                  <a:txBody>
                    <a:bodyPr wrap="square"/>
                    <a:lstStyle/>
                    <a:p>
                      <a:r>
                        <a:rPr sz="1300" b="0">
                          <a:solidFill>
                            <a:srgbClr val="111827"/>
                          </a:solidFill>
                          <a:latin typeface="Calibri"/>
                        </a:rPr>
                        <a:t>Non</a:t>
                      </a:r>
                    </a:p>
                  </a:txBody>
                  <a:tcPr marL="54864" marR="54864" marT="27432" marB="27432" anchor="ctr">
                    <a:solidFill>
                      <a:srgbClr val="EEF0FF"/>
                    </a:solidFill>
                  </a:tcPr>
                </a:tc>
                <a:tc>
                  <a:txBody>
                    <a:bodyPr wrap="square"/>
                    <a:lstStyle/>
                    <a:p>
                      <a:r>
                        <a:rPr sz="1300" b="0">
                          <a:solidFill>
                            <a:srgbClr val="111827"/>
                          </a:solidFill>
                          <a:latin typeface="Calibri"/>
                        </a:rPr>
                        <a:t>Partiel</a:t>
                      </a:r>
                    </a:p>
                  </a:txBody>
                  <a:tcPr marL="54864" marR="54864" marT="27432" marB="27432" anchor="ctr">
                    <a:solidFill>
                      <a:srgbClr val="EEF0FF"/>
                    </a:solidFill>
                  </a:tcPr>
                </a:tc>
                <a:tc>
                  <a:txBody>
                    <a:bodyPr wrap="square"/>
                    <a:lstStyle/>
                    <a:p>
                      <a:r>
                        <a:rPr sz="1300" b="0">
                          <a:solidFill>
                            <a:srgbClr val="111827"/>
                          </a:solidFill>
                          <a:latin typeface="Calibri"/>
                        </a:rPr>
                        <a:t>Non</a:t>
                      </a:r>
                    </a:p>
                  </a:txBody>
                  <a:tcPr marL="54864" marR="54864" marT="27432" marB="27432" anchor="ctr">
                    <a:solidFill>
                      <a:srgbClr val="EEF0FF"/>
                    </a:solidFill>
                  </a:tcPr>
                </a:tc>
              </a:tr>
              <a:tr h="457200">
                <a:tc>
                  <a:txBody>
                    <a:bodyPr wrap="square"/>
                    <a:lstStyle/>
                    <a:p>
                      <a:r>
                        <a:rPr sz="1300" b="1">
                          <a:solidFill>
                            <a:srgbClr val="111827"/>
                          </a:solidFill>
                          <a:latin typeface="Calibri"/>
                        </a:rPr>
                        <a:t>Ouverture API REST / conteneurs</a:t>
                      </a:r>
                    </a:p>
                  </a:txBody>
                  <a:tcPr marL="54864" marR="54864" marT="27432" marB="27432" anchor="ctr">
                    <a:solidFill>
                      <a:srgbClr val="FFFFFF"/>
                    </a:solidFill>
                  </a:tcPr>
                </a:tc>
                <a:tc>
                  <a:txBody>
                    <a:bodyPr wrap="square"/>
                    <a:lstStyle/>
                    <a:p>
                      <a:r>
                        <a:rPr sz="1300" b="0">
                          <a:solidFill>
                            <a:srgbClr val="111827"/>
                          </a:solidFill>
                          <a:latin typeface="Calibri"/>
                        </a:rPr>
                        <a:t>Faible</a:t>
                      </a:r>
                    </a:p>
                  </a:txBody>
                  <a:tcPr marL="54864" marR="54864" marT="27432" marB="27432" anchor="ctr">
                    <a:solidFill>
                      <a:srgbClr val="FFFFFF"/>
                    </a:solidFill>
                  </a:tcPr>
                </a:tc>
                <a:tc>
                  <a:txBody>
                    <a:bodyPr wrap="square"/>
                    <a:lstStyle/>
                    <a:p>
                      <a:r>
                        <a:rPr sz="1300" b="0">
                          <a:solidFill>
                            <a:srgbClr val="111827"/>
                          </a:solidFill>
                          <a:latin typeface="Calibri"/>
                        </a:rPr>
                        <a:t>Faible</a:t>
                      </a:r>
                    </a:p>
                  </a:txBody>
                  <a:tcPr marL="54864" marR="54864" marT="27432" marB="27432" anchor="ctr">
                    <a:solidFill>
                      <a:srgbClr val="FFFFFF"/>
                    </a:solidFill>
                  </a:tcPr>
                </a:tc>
                <a:tc>
                  <a:txBody>
                    <a:bodyPr wrap="square"/>
                    <a:lstStyle/>
                    <a:p>
                      <a:r>
                        <a:rPr sz="1300" b="0">
                          <a:solidFill>
                            <a:srgbClr val="111827"/>
                          </a:solidFill>
                          <a:latin typeface="Calibri"/>
                        </a:rPr>
                        <a:t>N/A</a:t>
                      </a:r>
                    </a:p>
                  </a:txBody>
                  <a:tcPr marL="54864" marR="54864" marT="27432" marB="27432" anchor="ctr">
                    <a:solidFill>
                      <a:srgbClr val="FFFFFF"/>
                    </a:solidFill>
                  </a:tcPr>
                </a:tc>
              </a:tr>
              <a:tr h="457200">
                <a:tc>
                  <a:txBody>
                    <a:bodyPr wrap="square"/>
                    <a:lstStyle/>
                    <a:p>
                      <a:r>
                        <a:rPr sz="1300" b="1">
                          <a:solidFill>
                            <a:srgbClr val="111827"/>
                          </a:solidFill>
                          <a:latin typeface="Calibri"/>
                        </a:rPr>
                        <a:t>Coût</a:t>
                      </a:r>
                    </a:p>
                  </a:txBody>
                  <a:tcPr marL="54864" marR="54864" marT="27432" marB="27432" anchor="ctr">
                    <a:solidFill>
                      <a:srgbClr val="EEF0FF"/>
                    </a:solidFill>
                  </a:tcPr>
                </a:tc>
                <a:tc>
                  <a:txBody>
                    <a:bodyPr wrap="square"/>
                    <a:lstStyle/>
                    <a:p>
                      <a:r>
                        <a:rPr sz="1300" b="0">
                          <a:solidFill>
                            <a:srgbClr val="111827"/>
                          </a:solidFill>
                          <a:latin typeface="Calibri"/>
                        </a:rPr>
                        <a:t>Interne</a:t>
                      </a:r>
                    </a:p>
                  </a:txBody>
                  <a:tcPr marL="54864" marR="54864" marT="27432" marB="27432" anchor="ctr">
                    <a:solidFill>
                      <a:srgbClr val="EEF0FF"/>
                    </a:solidFill>
                  </a:tcPr>
                </a:tc>
                <a:tc>
                  <a:txBody>
                    <a:bodyPr wrap="square"/>
                    <a:lstStyle/>
                    <a:p>
                      <a:r>
                        <a:rPr sz="1300" b="0">
                          <a:solidFill>
                            <a:srgbClr val="111827"/>
                          </a:solidFill>
                          <a:latin typeface="Calibri"/>
                        </a:rPr>
                        <a:t>Élevé (licence)</a:t>
                      </a:r>
                    </a:p>
                  </a:txBody>
                  <a:tcPr marL="54864" marR="54864" marT="27432" marB="27432" anchor="ctr">
                    <a:solidFill>
                      <a:srgbClr val="EEF0FF"/>
                    </a:solidFill>
                  </a:tcPr>
                </a:tc>
                <a:tc>
                  <a:txBody>
                    <a:bodyPr wrap="square"/>
                    <a:lstStyle/>
                    <a:p>
                      <a:r>
                        <a:rPr sz="1300" b="0">
                          <a:solidFill>
                            <a:srgbClr val="111827"/>
                          </a:solidFill>
                          <a:latin typeface="Calibri"/>
                        </a:rPr>
                        <a:t>Faible</a:t>
                      </a:r>
                    </a:p>
                  </a:txBody>
                  <a:tcPr marL="54864" marR="54864" marT="27432" marB="27432" anchor="ctr">
                    <a:solidFill>
                      <a:srgbClr val="EEF0FF"/>
                    </a:solidFill>
                  </a:tcPr>
                </a:tc>
              </a:tr>
            </a:tbl>
          </a:graphicData>
        </a:graphic>
      </p:graphicFrame>
      <p:sp>
        <p:nvSpPr>
          <p:cNvPr id="9" name="Rounded Rectangle 8"/>
          <p:cNvSpPr/>
          <p:nvPr/>
        </p:nvSpPr>
        <p:spPr>
          <a:xfrm>
            <a:off x="457200" y="5623560"/>
            <a:ext cx="11274552" cy="731520"/>
          </a:xfrm>
          <a:prstGeom prst="roundRect">
            <a:avLst>
              <a:gd name="adj" fmla="val 15000"/>
            </a:avLst>
          </a:prstGeom>
          <a:solidFill>
            <a:srgbClr val="EEF0FF"/>
          </a:solidFill>
          <a:ln>
            <a:solidFill>
              <a:srgbClr val="464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23560"/>
            <a:ext cx="10908792" cy="731520"/>
          </a:xfrm>
          <a:prstGeom prst="rect">
            <a:avLst/>
          </a:prstGeom>
          <a:noFill/>
        </p:spPr>
        <p:txBody>
          <a:bodyPr wrap="square" anchor="ctr" lIns="45720" rIns="45720">
            <a:spAutoFit/>
          </a:bodyPr>
          <a:lstStyle/>
          <a:p>
            <a:pPr algn="l">
              <a:spcAft>
                <a:spcPts val="400"/>
              </a:spcAft>
            </a:pPr>
            <a:r>
              <a:rPr sz="1400" b="1">
                <a:solidFill>
                  <a:srgbClr val="1F2235"/>
                </a:solidFill>
                <a:latin typeface="Calibri"/>
              </a:rPr>
              <a:t>Aucun outil examiné ne combine XSD dynamique, contrôles métier, IA, audit et KPI dans une interface dédiée aux gestionnaires RH.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Solution proposée : plateforme web en trois services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Existant et solution</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7 / 21</a:t>
            </a:r>
          </a:p>
        </p:txBody>
      </p:sp>
      <p:pic>
        <p:nvPicPr>
          <p:cNvPr id="8" name="Picture 7" descr="fig1_1_architecture_0.png"/>
          <p:cNvPicPr>
            <a:picLocks noChangeAspect="1"/>
          </p:cNvPicPr>
          <p:nvPr/>
        </p:nvPicPr>
        <p:blipFill>
          <a:blip r:embed="rId2"/>
          <a:stretch>
            <a:fillRect/>
          </a:stretch>
        </p:blipFill>
        <p:spPr>
          <a:xfrm>
            <a:off x="457200" y="2275878"/>
            <a:ext cx="7223760" cy="2580563"/>
          </a:xfrm>
          <a:prstGeom prst="rect">
            <a:avLst/>
          </a:prstGeom>
          <a:ln w="9525">
            <a:solidFill>
              <a:srgbClr val="D1D5DB"/>
            </a:solidFill>
          </a:ln>
        </p:spPr>
      </p:pic>
      <p:sp>
        <p:nvSpPr>
          <p:cNvPr id="9" name="TextBox 8"/>
          <p:cNvSpPr txBox="1"/>
          <p:nvPr/>
        </p:nvSpPr>
        <p:spPr>
          <a:xfrm>
            <a:off x="7955280" y="1234440"/>
            <a:ext cx="3776472" cy="4892040"/>
          </a:xfrm>
          <a:prstGeom prst="rect">
            <a:avLst/>
          </a:prstGeom>
          <a:noFill/>
        </p:spPr>
        <p:txBody>
          <a:bodyPr wrap="square" anchor="t" lIns="45720" rIns="45720">
            <a:spAutoFit/>
          </a:bodyPr>
          <a:lstStyle/>
          <a:p>
            <a:pPr algn="l">
              <a:spcAft>
                <a:spcPts val="400"/>
              </a:spcAft>
            </a:pPr>
            <a:r>
              <a:rPr sz="1500" b="0">
                <a:solidFill>
                  <a:srgbClr val="111827"/>
                </a:solidFill>
                <a:latin typeface="Calibri"/>
              </a:rPr>
              <a:t>• Présentation : React (SPA) en HTTPS</a:t>
            </a:r>
          </a:p>
          <a:p>
            <a:pPr algn="l">
              <a:spcAft>
                <a:spcPts val="400"/>
              </a:spcAft>
            </a:pPr>
            <a:r>
              <a:rPr sz="1500" b="0">
                <a:solidFill>
                  <a:srgbClr val="111827"/>
                </a:solidFill>
                <a:latin typeface="Calibri"/>
              </a:rPr>
              <a:t>• Application : Spring Boot en couches</a:t>
            </a:r>
          </a:p>
          <a:p>
            <a:pPr algn="l" lvl="1">
              <a:spcAft>
                <a:spcPts val="400"/>
              </a:spcAft>
            </a:pPr>
            <a:r>
              <a:rPr sz="1300" b="0">
                <a:solidFill>
                  <a:srgbClr val="6B7280"/>
                </a:solidFill>
                <a:latin typeface="Calibri"/>
              </a:rPr>
              <a:t>– Contrôleurs REST → services → repositories JPA</a:t>
            </a:r>
          </a:p>
          <a:p>
            <a:pPr algn="l">
              <a:spcAft>
                <a:spcPts val="400"/>
              </a:spcAft>
            </a:pPr>
            <a:r>
              <a:rPr sz="1500" b="0">
                <a:solidFill>
                  <a:srgbClr val="111827"/>
                </a:solidFill>
                <a:latin typeface="Calibri"/>
              </a:rPr>
              <a:t>• Données : PostgreSQL via JPA / Hibernate</a:t>
            </a:r>
          </a:p>
          <a:p>
            <a:pPr algn="l">
              <a:spcAft>
                <a:spcPts val="400"/>
              </a:spcAft>
            </a:pPr>
            <a:r>
              <a:rPr sz="1500" b="0">
                <a:solidFill>
                  <a:srgbClr val="111827"/>
                </a:solidFill>
                <a:latin typeface="Calibri"/>
              </a:rPr>
              <a:t>• Service IA indépendant : Python / FastAPI</a:t>
            </a:r>
          </a:p>
          <a:p>
            <a:pPr algn="l" lvl="1">
              <a:spcAft>
                <a:spcPts val="400"/>
              </a:spcAft>
            </a:pPr>
            <a:r>
              <a:rPr sz="1300" b="0">
                <a:solidFill>
                  <a:srgbClr val="6B7280"/>
                </a:solidFill>
                <a:latin typeface="Calibri"/>
              </a:rPr>
              <a:t>– Appelé en REST, lecture de l'historique</a:t>
            </a:r>
          </a:p>
          <a:p>
            <a:pPr algn="l">
              <a:spcAft>
                <a:spcPts val="400"/>
              </a:spcAft>
            </a:pPr>
            <a:r>
              <a:rPr sz="1500" b="0">
                <a:solidFill>
                  <a:srgbClr val="111827"/>
                </a:solidFill>
                <a:latin typeface="Calibri"/>
              </a:rPr>
              <a:t>• Les services sont conteneurisés avec Docker</a:t>
            </a:r>
          </a:p>
        </p:txBody>
      </p:sp>
      <p:sp>
        <p:nvSpPr>
          <p:cNvPr id="10" name="TextBox 9"/>
          <p:cNvSpPr txBox="1"/>
          <p:nvPr/>
        </p:nvSpPr>
        <p:spPr>
          <a:xfrm>
            <a:off x="457200" y="5989320"/>
            <a:ext cx="6949440"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Figure 1.1 du rapport — Architecture générale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Acteurs du système</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Besoins et acteurs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8 / 21</a:t>
            </a:r>
          </a:p>
        </p:txBody>
      </p:sp>
      <p:graphicFrame>
        <p:nvGraphicFramePr>
          <p:cNvPr id="8" name="Table 7"/>
          <p:cNvGraphicFramePr>
            <a:graphicFrameLocks noGrp="1"/>
          </p:cNvGraphicFramePr>
          <p:nvPr/>
        </p:nvGraphicFramePr>
        <p:xfrm>
          <a:off x="457200" y="1143000"/>
          <a:ext cx="11274551" cy="4114800"/>
        </p:xfrm>
        <a:graphic>
          <a:graphicData uri="http://schemas.openxmlformats.org/drawingml/2006/table">
            <a:tbl>
              <a:tblPr firstRow="1" bandRow="1">
                <a:tableStyleId>{5C22544A-7EE6-4342-B048-85BDC9FD1C3A}</a:tableStyleId>
              </a:tblPr>
              <a:tblGrid>
                <a:gridCol w="2383238"/>
                <a:gridCol w="8891313"/>
              </a:tblGrid>
              <a:tr h="685800">
                <a:tc>
                  <a:txBody>
                    <a:bodyPr wrap="square"/>
                    <a:lstStyle/>
                    <a:p>
                      <a:r>
                        <a:rPr sz="1500" b="1">
                          <a:solidFill>
                            <a:srgbClr val="FFFFFF"/>
                          </a:solidFill>
                          <a:latin typeface="Calibri"/>
                        </a:rPr>
                        <a:t>Acteur</a:t>
                      </a:r>
                    </a:p>
                  </a:txBody>
                  <a:tcPr marL="54864" marR="54864" marT="27432" marB="27432" anchor="ctr">
                    <a:solidFill>
                      <a:srgbClr val="1F2235"/>
                    </a:solidFill>
                  </a:tcPr>
                </a:tc>
                <a:tc>
                  <a:txBody>
                    <a:bodyPr wrap="square"/>
                    <a:lstStyle/>
                    <a:p>
                      <a:r>
                        <a:rPr sz="1500" b="1">
                          <a:solidFill>
                            <a:srgbClr val="FFFFFF"/>
                          </a:solidFill>
                          <a:latin typeface="Calibri"/>
                        </a:rPr>
                        <a:t>Responsabilités</a:t>
                      </a:r>
                    </a:p>
                  </a:txBody>
                  <a:tcPr marL="54864" marR="54864" marT="27432" marB="27432" anchor="ctr">
                    <a:solidFill>
                      <a:srgbClr val="1F2235"/>
                    </a:solidFill>
                  </a:tcPr>
                </a:tc>
              </a:tr>
              <a:tr h="685800">
                <a:tc>
                  <a:txBody>
                    <a:bodyPr wrap="square"/>
                    <a:lstStyle/>
                    <a:p>
                      <a:r>
                        <a:rPr sz="1500" b="1">
                          <a:solidFill>
                            <a:srgbClr val="111827"/>
                          </a:solidFill>
                          <a:latin typeface="Calibri"/>
                        </a:rPr>
                        <a:t>Administrateur</a:t>
                      </a:r>
                    </a:p>
                  </a:txBody>
                  <a:tcPr marL="54864" marR="54864" marT="27432" marB="27432" anchor="ctr">
                    <a:solidFill>
                      <a:srgbClr val="FFFFFF"/>
                    </a:solidFill>
                  </a:tcPr>
                </a:tc>
                <a:tc>
                  <a:txBody>
                    <a:bodyPr wrap="square"/>
                    <a:lstStyle/>
                    <a:p>
                      <a:r>
                        <a:rPr sz="1500" b="0">
                          <a:solidFill>
                            <a:srgbClr val="111827"/>
                          </a:solidFill>
                          <a:latin typeface="Calibri"/>
                        </a:rPr>
                        <a:t>Gère les utilisateurs et les rôles, importe les schémas XSD, supervise le module IA, accède à l'audit et aux KPI</a:t>
                      </a:r>
                    </a:p>
                  </a:txBody>
                  <a:tcPr marL="54864" marR="54864" marT="27432" marB="27432" anchor="ctr">
                    <a:solidFill>
                      <a:srgbClr val="FFFFFF"/>
                    </a:solidFill>
                  </a:tcPr>
                </a:tc>
              </a:tr>
              <a:tr h="685800">
                <a:tc>
                  <a:txBody>
                    <a:bodyPr wrap="square"/>
                    <a:lstStyle/>
                    <a:p>
                      <a:r>
                        <a:rPr sz="1500" b="1">
                          <a:solidFill>
                            <a:srgbClr val="111827"/>
                          </a:solidFill>
                          <a:latin typeface="Calibri"/>
                        </a:rPr>
                        <a:t>Gestionnaire RH</a:t>
                      </a:r>
                    </a:p>
                  </a:txBody>
                  <a:tcPr marL="54864" marR="54864" marT="27432" marB="27432" anchor="ctr">
                    <a:solidFill>
                      <a:srgbClr val="EEF0FF"/>
                    </a:solidFill>
                  </a:tcPr>
                </a:tc>
                <a:tc>
                  <a:txBody>
                    <a:bodyPr wrap="square"/>
                    <a:lstStyle/>
                    <a:p>
                      <a:r>
                        <a:rPr sz="1500" b="0">
                          <a:solidFill>
                            <a:srgbClr val="111827"/>
                          </a:solidFill>
                          <a:latin typeface="Calibri"/>
                        </a:rPr>
                        <a:t>Prépare les lots, choisit le XSD, génère et valide le fichier SEPA, traite les anomalies, exporte le fichier</a:t>
                      </a:r>
                    </a:p>
                  </a:txBody>
                  <a:tcPr marL="54864" marR="54864" marT="27432" marB="27432" anchor="ctr">
                    <a:solidFill>
                      <a:srgbClr val="EEF0FF"/>
                    </a:solidFill>
                  </a:tcPr>
                </a:tc>
              </a:tr>
              <a:tr h="685800">
                <a:tc>
                  <a:txBody>
                    <a:bodyPr wrap="square"/>
                    <a:lstStyle/>
                    <a:p>
                      <a:r>
                        <a:rPr sz="1500" b="1">
                          <a:solidFill>
                            <a:srgbClr val="111827"/>
                          </a:solidFill>
                          <a:latin typeface="Calibri"/>
                        </a:rPr>
                        <a:t>Validateur</a:t>
                      </a:r>
                    </a:p>
                  </a:txBody>
                  <a:tcPr marL="54864" marR="54864" marT="27432" marB="27432" anchor="ctr">
                    <a:solidFill>
                      <a:srgbClr val="FFFFFF"/>
                    </a:solidFill>
                  </a:tcPr>
                </a:tc>
                <a:tc>
                  <a:txBody>
                    <a:bodyPr wrap="square"/>
                    <a:lstStyle/>
                    <a:p>
                      <a:r>
                        <a:rPr sz="1500" b="0">
                          <a:solidFill>
                            <a:srgbClr val="111827"/>
                          </a:solidFill>
                          <a:latin typeface="Calibri"/>
                        </a:rPr>
                        <a:t>Vérifie et approuve les paiements ; consulte XSD, virements et anomalies</a:t>
                      </a:r>
                    </a:p>
                  </a:txBody>
                  <a:tcPr marL="54864" marR="54864" marT="27432" marB="27432" anchor="ctr">
                    <a:solidFill>
                      <a:srgbClr val="FFFFFF"/>
                    </a:solidFill>
                  </a:tcPr>
                </a:tc>
              </a:tr>
              <a:tr h="685800">
                <a:tc>
                  <a:txBody>
                    <a:bodyPr wrap="square"/>
                    <a:lstStyle/>
                    <a:p>
                      <a:r>
                        <a:rPr sz="1500" b="1">
                          <a:solidFill>
                            <a:srgbClr val="111827"/>
                          </a:solidFill>
                          <a:latin typeface="Calibri"/>
                        </a:rPr>
                        <a:t>Auditeur</a:t>
                      </a:r>
                    </a:p>
                  </a:txBody>
                  <a:tcPr marL="54864" marR="54864" marT="27432" marB="27432" anchor="ctr">
                    <a:solidFill>
                      <a:srgbClr val="EEF0FF"/>
                    </a:solidFill>
                  </a:tcPr>
                </a:tc>
                <a:tc>
                  <a:txBody>
                    <a:bodyPr wrap="square"/>
                    <a:lstStyle/>
                    <a:p>
                      <a:r>
                        <a:rPr sz="1500" b="0">
                          <a:solidFill>
                            <a:srgbClr val="111827"/>
                          </a:solidFill>
                          <a:latin typeface="Calibri"/>
                        </a:rPr>
                        <a:t>Lecture seule du journal d'audit et des indicateurs</a:t>
                      </a:r>
                    </a:p>
                  </a:txBody>
                  <a:tcPr marL="54864" marR="54864" marT="27432" marB="27432" anchor="ctr">
                    <a:solidFill>
                      <a:srgbClr val="EEF0FF"/>
                    </a:solidFill>
                  </a:tcPr>
                </a:tc>
              </a:tr>
              <a:tr h="685800">
                <a:tc>
                  <a:txBody>
                    <a:bodyPr wrap="square"/>
                    <a:lstStyle/>
                    <a:p>
                      <a:r>
                        <a:rPr sz="1500" b="1">
                          <a:solidFill>
                            <a:srgbClr val="111827"/>
                          </a:solidFill>
                          <a:latin typeface="Calibri"/>
                        </a:rPr>
                        <a:t>Module IA (système)</a:t>
                      </a:r>
                    </a:p>
                  </a:txBody>
                  <a:tcPr marL="54864" marR="54864" marT="27432" marB="27432" anchor="ctr">
                    <a:solidFill>
                      <a:srgbClr val="FFFFFF"/>
                    </a:solidFill>
                  </a:tcPr>
                </a:tc>
                <a:tc>
                  <a:txBody>
                    <a:bodyPr wrap="square"/>
                    <a:lstStyle/>
                    <a:p>
                      <a:r>
                        <a:rPr sz="1500" b="0">
                          <a:solidFill>
                            <a:srgbClr val="111827"/>
                          </a:solidFill>
                          <a:latin typeface="Calibri"/>
                        </a:rPr>
                        <a:t>Attribue un score de risque à chaque paiement ; réentraînable par l'administrateur</a:t>
                      </a:r>
                    </a:p>
                  </a:txBody>
                  <a:tcPr marL="54864" marR="54864" marT="27432" marB="27432" anchor="ctr">
                    <a:solidFill>
                      <a:srgbClr val="FFFFFF"/>
                    </a:solidFill>
                  </a:tcPr>
                </a:tc>
              </a:tr>
            </a:tbl>
          </a:graphicData>
        </a:graphic>
      </p:graphicFrame>
      <p:sp>
        <p:nvSpPr>
          <p:cNvPr id="9" name="Rounded Rectangle 8"/>
          <p:cNvSpPr/>
          <p:nvPr/>
        </p:nvSpPr>
        <p:spPr>
          <a:xfrm>
            <a:off x="457200" y="5623560"/>
            <a:ext cx="11274552" cy="731520"/>
          </a:xfrm>
          <a:prstGeom prst="roundRect">
            <a:avLst>
              <a:gd name="adj" fmla="val 15000"/>
            </a:avLst>
          </a:prstGeom>
          <a:solidFill>
            <a:srgbClr val="EEF0FF"/>
          </a:solidFill>
          <a:ln>
            <a:solidFill>
              <a:srgbClr val="464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23560"/>
            <a:ext cx="10908792" cy="731520"/>
          </a:xfrm>
          <a:prstGeom prst="rect">
            <a:avLst/>
          </a:prstGeom>
          <a:noFill/>
        </p:spPr>
        <p:txBody>
          <a:bodyPr wrap="square" anchor="ctr" lIns="45720" rIns="45720">
            <a:spAutoFit/>
          </a:bodyPr>
          <a:lstStyle/>
          <a:p>
            <a:pPr algn="l">
              <a:spcAft>
                <a:spcPts val="400"/>
              </a:spcAft>
            </a:pPr>
            <a:r>
              <a:rPr sz="1400" b="1">
                <a:solidFill>
                  <a:srgbClr val="1F2235"/>
                </a:solidFill>
                <a:latin typeface="Calibri"/>
              </a:rPr>
              <a:t>Séparation des responsabilités : celui qui prépare le lot n'est pas celui qui l'approuve.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Besoins fonctionnels — Administrateur et Auditeur</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Besoins et acteurs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9 / 21</a:t>
            </a:r>
          </a:p>
        </p:txBody>
      </p:sp>
      <p:sp>
        <p:nvSpPr>
          <p:cNvPr id="8" name="Rounded Rectangle 7"/>
          <p:cNvSpPr/>
          <p:nvPr/>
        </p:nvSpPr>
        <p:spPr>
          <a:xfrm>
            <a:off x="457200" y="1143000"/>
            <a:ext cx="5522976"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5294376"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Administrateur</a:t>
            </a:r>
          </a:p>
        </p:txBody>
      </p:sp>
      <p:sp>
        <p:nvSpPr>
          <p:cNvPr id="11" name="TextBox 10"/>
          <p:cNvSpPr txBox="1"/>
          <p:nvPr/>
        </p:nvSpPr>
        <p:spPr>
          <a:xfrm>
            <a:off x="621792" y="1600200"/>
            <a:ext cx="5294376" cy="457200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Créer des comptes, affecter un rôle, désactiver un compte</a:t>
            </a:r>
          </a:p>
          <a:p>
            <a:pPr algn="l">
              <a:spcAft>
                <a:spcPts val="400"/>
              </a:spcAft>
            </a:pPr>
            <a:r>
              <a:rPr sz="1300" b="0">
                <a:solidFill>
                  <a:srgbClr val="111827"/>
                </a:solidFill>
                <a:latin typeface="Calibri"/>
              </a:rPr>
              <a:t>• Importer un schéma XSD pain.001 et conserver plusieurs versions</a:t>
            </a:r>
          </a:p>
          <a:p>
            <a:pPr algn="l">
              <a:spcAft>
                <a:spcPts val="400"/>
              </a:spcAft>
            </a:pPr>
            <a:r>
              <a:rPr sz="1300" b="0">
                <a:solidFill>
                  <a:srgbClr val="111827"/>
                </a:solidFill>
                <a:latin typeface="Calibri"/>
              </a:rPr>
              <a:t>• Consulter l'état du modèle IA et déclencher son réentraînement</a:t>
            </a:r>
          </a:p>
          <a:p>
            <a:pPr algn="l">
              <a:spcAft>
                <a:spcPts val="400"/>
              </a:spcAft>
            </a:pPr>
            <a:r>
              <a:rPr sz="1300" b="0">
                <a:solidFill>
                  <a:srgbClr val="111827"/>
                </a:solidFill>
                <a:latin typeface="Calibri"/>
              </a:rPr>
              <a:t>• Suivre l'activité : fiches générées, erreurs, taux, montant viré</a:t>
            </a:r>
          </a:p>
          <a:p>
            <a:pPr algn="l">
              <a:spcAft>
                <a:spcPts val="400"/>
              </a:spcAft>
            </a:pPr>
            <a:r>
              <a:rPr sz="1300" b="0">
                <a:solidFill>
                  <a:srgbClr val="111827"/>
                </a:solidFill>
                <a:latin typeface="Calibri"/>
              </a:rPr>
              <a:t>• Visualiser l'évolution sur 12 mois et le top des clients à anomalies</a:t>
            </a:r>
          </a:p>
        </p:txBody>
      </p:sp>
      <p:sp>
        <p:nvSpPr>
          <p:cNvPr id="12" name="Rounded Rectangle 11"/>
          <p:cNvSpPr/>
          <p:nvPr/>
        </p:nvSpPr>
        <p:spPr>
          <a:xfrm>
            <a:off x="6208776" y="1143000"/>
            <a:ext cx="5522976"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216152"/>
            <a:ext cx="5294376"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Auditeur</a:t>
            </a:r>
          </a:p>
        </p:txBody>
      </p:sp>
      <p:sp>
        <p:nvSpPr>
          <p:cNvPr id="15" name="TextBox 14"/>
          <p:cNvSpPr txBox="1"/>
          <p:nvPr/>
        </p:nvSpPr>
        <p:spPr>
          <a:xfrm>
            <a:off x="6373368" y="1600200"/>
            <a:ext cx="5294376" cy="457200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Consulter les actions sensibles : auteur, date, adresse IP, résultat</a:t>
            </a:r>
          </a:p>
          <a:p>
            <a:pPr algn="l">
              <a:spcAft>
                <a:spcPts val="400"/>
              </a:spcAft>
            </a:pPr>
            <a:r>
              <a:rPr sz="1300" b="0">
                <a:solidFill>
                  <a:srgbClr val="111827"/>
                </a:solidFill>
                <a:latin typeface="Calibri"/>
              </a:rPr>
              <a:t>• Retrouver les changements de statut des anomalies</a:t>
            </a:r>
          </a:p>
          <a:p>
            <a:pPr algn="l">
              <a:spcAft>
                <a:spcPts val="400"/>
              </a:spcAft>
            </a:pPr>
            <a:r>
              <a:rPr sz="1300" b="0">
                <a:solidFill>
                  <a:srgbClr val="111827"/>
                </a:solidFill>
                <a:latin typeface="Calibri"/>
              </a:rPr>
              <a:t>• Consulter les indicateurs en lecture seule</a:t>
            </a:r>
          </a:p>
          <a:p>
            <a:pPr algn="l">
              <a:spcAft>
                <a:spcPts val="400"/>
              </a:spcAft>
            </a:pPr>
            <a:r>
              <a:rPr sz="1300" b="0">
                <a:solidFill>
                  <a:srgbClr val="111827"/>
                </a:solidFill>
                <a:latin typeface="Calibri"/>
              </a:rPr>
              <a:t>• Aucun droit d'écriture ni de génération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Besoins fonctionnels — Gestionnaire RH, Validateur, Module IA</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Besoins et acteurs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10 / 21</a:t>
            </a:r>
          </a:p>
        </p:txBody>
      </p:sp>
      <p:sp>
        <p:nvSpPr>
          <p:cNvPr id="8" name="Rounded Rectangle 7"/>
          <p:cNvSpPr/>
          <p:nvPr/>
        </p:nvSpPr>
        <p:spPr>
          <a:xfrm>
            <a:off x="457200" y="1143000"/>
            <a:ext cx="3605784"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3377184" cy="411480"/>
          </a:xfrm>
          <a:prstGeom prst="rect">
            <a:avLst/>
          </a:prstGeom>
          <a:noFill/>
        </p:spPr>
        <p:txBody>
          <a:bodyPr wrap="square" anchor="t" lIns="45720" rIns="45720">
            <a:spAutoFit/>
          </a:bodyPr>
          <a:lstStyle/>
          <a:p>
            <a:pPr algn="l">
              <a:spcAft>
                <a:spcPts val="400"/>
              </a:spcAft>
            </a:pPr>
            <a:r>
              <a:rPr sz="1400" b="1">
                <a:solidFill>
                  <a:srgbClr val="4648E0"/>
                </a:solidFill>
                <a:latin typeface="Calibri"/>
              </a:rPr>
              <a:t>Gestionnaire RH</a:t>
            </a:r>
          </a:p>
        </p:txBody>
      </p:sp>
      <p:sp>
        <p:nvSpPr>
          <p:cNvPr id="11" name="TextBox 10"/>
          <p:cNvSpPr txBox="1"/>
          <p:nvPr/>
        </p:nvSpPr>
        <p:spPr>
          <a:xfrm>
            <a:off x="621792" y="1600200"/>
            <a:ext cx="3377184" cy="457200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Filtrer les paiements par société, période, matricules</a:t>
            </a:r>
          </a:p>
          <a:p>
            <a:pPr algn="l">
              <a:spcAft>
                <a:spcPts val="400"/>
              </a:spcAft>
            </a:pPr>
            <a:r>
              <a:rPr sz="1200" b="0">
                <a:solidFill>
                  <a:srgbClr val="111827"/>
                </a:solidFill>
                <a:latin typeface="Calibri"/>
              </a:rPr>
              <a:t>• Consulter les contraintes d'un XSD</a:t>
            </a:r>
          </a:p>
          <a:p>
            <a:pPr algn="l">
              <a:spcAft>
                <a:spcPts val="400"/>
              </a:spcAft>
            </a:pPr>
            <a:r>
              <a:rPr sz="1200" b="0">
                <a:solidFill>
                  <a:srgbClr val="111827"/>
                </a:solidFill>
                <a:latin typeface="Calibri"/>
              </a:rPr>
              <a:t>• Prévisualiser puis générer le pain.001</a:t>
            </a:r>
          </a:p>
          <a:p>
            <a:pPr algn="l">
              <a:spcAft>
                <a:spcPts val="400"/>
              </a:spcAft>
            </a:pPr>
            <a:r>
              <a:rPr sz="1200" b="0">
                <a:solidFill>
                  <a:srgbClr val="111827"/>
                </a:solidFill>
                <a:latin typeface="Calibri"/>
              </a:rPr>
              <a:t>• Valider le XML contre le XSD et voir toutes les erreurs</a:t>
            </a:r>
          </a:p>
          <a:p>
            <a:pPr algn="l">
              <a:spcAft>
                <a:spcPts val="400"/>
              </a:spcAft>
            </a:pPr>
            <a:r>
              <a:rPr sz="1200" b="0">
                <a:solidFill>
                  <a:srgbClr val="111827"/>
                </a:solidFill>
                <a:latin typeface="Calibri"/>
              </a:rPr>
              <a:t>• Télécharger et retrouver l'historique à l'identique</a:t>
            </a:r>
          </a:p>
          <a:p>
            <a:pPr algn="l">
              <a:spcAft>
                <a:spcPts val="400"/>
              </a:spcAft>
            </a:pPr>
            <a:r>
              <a:rPr sz="1200" b="0">
                <a:solidFill>
                  <a:srgbClr val="111827"/>
                </a:solidFill>
                <a:latin typeface="Calibri"/>
              </a:rPr>
              <a:t>• Traiter les anomalies : corrigée / ignorée</a:t>
            </a:r>
          </a:p>
        </p:txBody>
      </p:sp>
      <p:sp>
        <p:nvSpPr>
          <p:cNvPr id="12" name="Rounded Rectangle 11"/>
          <p:cNvSpPr/>
          <p:nvPr/>
        </p:nvSpPr>
        <p:spPr>
          <a:xfrm>
            <a:off x="4291584" y="1143000"/>
            <a:ext cx="3605784"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1584"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6176" y="1216152"/>
            <a:ext cx="3377184" cy="411480"/>
          </a:xfrm>
          <a:prstGeom prst="rect">
            <a:avLst/>
          </a:prstGeom>
          <a:noFill/>
        </p:spPr>
        <p:txBody>
          <a:bodyPr wrap="square" anchor="t" lIns="45720" rIns="45720">
            <a:spAutoFit/>
          </a:bodyPr>
          <a:lstStyle/>
          <a:p>
            <a:pPr algn="l">
              <a:spcAft>
                <a:spcPts val="400"/>
              </a:spcAft>
            </a:pPr>
            <a:r>
              <a:rPr sz="1400" b="1">
                <a:solidFill>
                  <a:srgbClr val="4648E0"/>
                </a:solidFill>
                <a:latin typeface="Calibri"/>
              </a:rPr>
              <a:t>Validateur</a:t>
            </a:r>
          </a:p>
        </p:txBody>
      </p:sp>
      <p:sp>
        <p:nvSpPr>
          <p:cNvPr id="15" name="TextBox 14"/>
          <p:cNvSpPr txBox="1"/>
          <p:nvPr/>
        </p:nvSpPr>
        <p:spPr>
          <a:xfrm>
            <a:off x="4456176" y="1600200"/>
            <a:ext cx="3377184" cy="457200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Approuver les transactions de paie</a:t>
            </a:r>
          </a:p>
          <a:p>
            <a:pPr algn="l">
              <a:spcAft>
                <a:spcPts val="400"/>
              </a:spcAft>
            </a:pPr>
            <a:r>
              <a:rPr sz="1200" b="0">
                <a:solidFill>
                  <a:srgbClr val="111827"/>
                </a:solidFill>
                <a:latin typeface="Calibri"/>
              </a:rPr>
              <a:t>• Seuls les paiements APPROUVÉS sont utilisés pour la génération</a:t>
            </a:r>
          </a:p>
          <a:p>
            <a:pPr algn="l">
              <a:spcAft>
                <a:spcPts val="400"/>
              </a:spcAft>
            </a:pPr>
            <a:r>
              <a:rPr sz="1200" b="0">
                <a:solidFill>
                  <a:srgbClr val="111827"/>
                </a:solidFill>
                <a:latin typeface="Calibri"/>
              </a:rPr>
              <a:t>• Consulter XSD, virements et anomalies</a:t>
            </a:r>
          </a:p>
        </p:txBody>
      </p:sp>
      <p:sp>
        <p:nvSpPr>
          <p:cNvPr id="16" name="Rounded Rectangle 15"/>
          <p:cNvSpPr/>
          <p:nvPr/>
        </p:nvSpPr>
        <p:spPr>
          <a:xfrm>
            <a:off x="8125968" y="1143000"/>
            <a:ext cx="3605784" cy="507492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5968" y="1143000"/>
            <a:ext cx="73152" cy="507492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560" y="1216152"/>
            <a:ext cx="3377184" cy="411480"/>
          </a:xfrm>
          <a:prstGeom prst="rect">
            <a:avLst/>
          </a:prstGeom>
          <a:noFill/>
        </p:spPr>
        <p:txBody>
          <a:bodyPr wrap="square" anchor="t" lIns="45720" rIns="45720">
            <a:spAutoFit/>
          </a:bodyPr>
          <a:lstStyle/>
          <a:p>
            <a:pPr algn="l">
              <a:spcAft>
                <a:spcPts val="400"/>
              </a:spcAft>
            </a:pPr>
            <a:r>
              <a:rPr sz="1400" b="1">
                <a:solidFill>
                  <a:srgbClr val="4648E0"/>
                </a:solidFill>
                <a:latin typeface="Calibri"/>
              </a:rPr>
              <a:t>Module IA</a:t>
            </a:r>
          </a:p>
        </p:txBody>
      </p:sp>
      <p:sp>
        <p:nvSpPr>
          <p:cNvPr id="19" name="TextBox 18"/>
          <p:cNvSpPr txBox="1"/>
          <p:nvPr/>
        </p:nvSpPr>
        <p:spPr>
          <a:xfrm>
            <a:off x="8290560" y="1600200"/>
            <a:ext cx="3377184" cy="457200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Détecter les montants suspects (Isolation Forest)</a:t>
            </a:r>
          </a:p>
          <a:p>
            <a:pPr algn="l">
              <a:spcAft>
                <a:spcPts val="400"/>
              </a:spcAft>
            </a:pPr>
            <a:r>
              <a:rPr sz="1200" b="0">
                <a:solidFill>
                  <a:srgbClr val="111827"/>
                </a:solidFill>
                <a:latin typeface="Calibri"/>
              </a:rPr>
              <a:t>• Fournir score, niveau de risque et raisons lisibles</a:t>
            </a:r>
          </a:p>
          <a:p>
            <a:pPr algn="l">
              <a:spcAft>
                <a:spcPts val="400"/>
              </a:spcAft>
            </a:pPr>
            <a:r>
              <a:rPr sz="1200" b="0">
                <a:solidFill>
                  <a:srgbClr val="111827"/>
                </a:solidFill>
                <a:latin typeface="Calibri"/>
              </a:rPr>
              <a:t>• Compléter les règles métier : IBAN, BIC, montants, doublons, net &gt; brut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Besoins non fonctionnels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Besoins et acteurs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11 / 21</a:t>
            </a:r>
          </a:p>
        </p:txBody>
      </p:sp>
      <p:sp>
        <p:nvSpPr>
          <p:cNvPr id="8" name="Rounded Rectangle 7"/>
          <p:cNvSpPr/>
          <p:nvPr/>
        </p:nvSpPr>
        <p:spPr>
          <a:xfrm>
            <a:off x="457200" y="114300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242316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2418588" cy="411480"/>
          </a:xfrm>
          <a:prstGeom prst="rect">
            <a:avLst/>
          </a:prstGeom>
          <a:noFill/>
        </p:spPr>
        <p:txBody>
          <a:bodyPr wrap="square" anchor="t" lIns="45720" rIns="45720">
            <a:spAutoFit/>
          </a:bodyPr>
          <a:lstStyle/>
          <a:p>
            <a:pPr algn="l">
              <a:spcAft>
                <a:spcPts val="400"/>
              </a:spcAft>
            </a:pPr>
            <a:r>
              <a:rPr sz="1400" b="1">
                <a:solidFill>
                  <a:srgbClr val="4648E0"/>
                </a:solidFill>
                <a:latin typeface="Calibri"/>
              </a:rPr>
              <a:t>Fiabilité</a:t>
            </a:r>
          </a:p>
        </p:txBody>
      </p:sp>
      <p:sp>
        <p:nvSpPr>
          <p:cNvPr id="11" name="TextBox 10"/>
          <p:cNvSpPr txBox="1"/>
          <p:nvPr/>
        </p:nvSpPr>
        <p:spPr>
          <a:xfrm>
            <a:off x="621792" y="160020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Fichier conforme au XSD avant téléchargement</a:t>
            </a:r>
          </a:p>
          <a:p>
            <a:pPr algn="l">
              <a:spcAft>
                <a:spcPts val="400"/>
              </a:spcAft>
            </a:pPr>
            <a:r>
              <a:rPr sz="1200" b="0">
                <a:solidFill>
                  <a:srgbClr val="111827"/>
                </a:solidFill>
                <a:latin typeface="Calibri"/>
              </a:rPr>
              <a:t>• Retéléchargement identique</a:t>
            </a:r>
          </a:p>
        </p:txBody>
      </p:sp>
      <p:sp>
        <p:nvSpPr>
          <p:cNvPr id="12" name="Rounded Rectangle 11"/>
          <p:cNvSpPr/>
          <p:nvPr/>
        </p:nvSpPr>
        <p:spPr>
          <a:xfrm>
            <a:off x="3332988" y="114300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2988" y="1143000"/>
            <a:ext cx="73152" cy="242316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7580" y="1216152"/>
            <a:ext cx="2418588" cy="411480"/>
          </a:xfrm>
          <a:prstGeom prst="rect">
            <a:avLst/>
          </a:prstGeom>
          <a:noFill/>
        </p:spPr>
        <p:txBody>
          <a:bodyPr wrap="square" anchor="t" lIns="45720" rIns="45720">
            <a:spAutoFit/>
          </a:bodyPr>
          <a:lstStyle/>
          <a:p>
            <a:pPr algn="l">
              <a:spcAft>
                <a:spcPts val="400"/>
              </a:spcAft>
            </a:pPr>
            <a:r>
              <a:rPr sz="1400" b="1">
                <a:solidFill>
                  <a:srgbClr val="1F2235"/>
                </a:solidFill>
                <a:latin typeface="Calibri"/>
              </a:rPr>
              <a:t>Sécurité</a:t>
            </a:r>
          </a:p>
        </p:txBody>
      </p:sp>
      <p:sp>
        <p:nvSpPr>
          <p:cNvPr id="15" name="TextBox 14"/>
          <p:cNvSpPr txBox="1"/>
          <p:nvPr/>
        </p:nvSpPr>
        <p:spPr>
          <a:xfrm>
            <a:off x="3497580" y="160020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JWT, BCrypt, rôles</a:t>
            </a:r>
          </a:p>
          <a:p>
            <a:pPr algn="l">
              <a:spcAft>
                <a:spcPts val="400"/>
              </a:spcAft>
            </a:pPr>
            <a:r>
              <a:rPr sz="1200" b="0">
                <a:solidFill>
                  <a:srgbClr val="111827"/>
                </a:solidFill>
                <a:latin typeface="Calibri"/>
              </a:rPr>
              <a:t>• CORS, protection XXE</a:t>
            </a:r>
          </a:p>
          <a:p>
            <a:pPr algn="l">
              <a:spcAft>
                <a:spcPts val="400"/>
              </a:spcAft>
            </a:pPr>
            <a:r>
              <a:rPr sz="1200" b="0">
                <a:solidFill>
                  <a:srgbClr val="111827"/>
                </a:solidFill>
                <a:latin typeface="Calibri"/>
              </a:rPr>
              <a:t>• Journal d'audit</a:t>
            </a:r>
          </a:p>
        </p:txBody>
      </p:sp>
      <p:sp>
        <p:nvSpPr>
          <p:cNvPr id="16" name="Rounded Rectangle 15"/>
          <p:cNvSpPr/>
          <p:nvPr/>
        </p:nvSpPr>
        <p:spPr>
          <a:xfrm>
            <a:off x="6208776" y="114300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143000"/>
            <a:ext cx="73152" cy="24231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216152"/>
            <a:ext cx="2418588" cy="411480"/>
          </a:xfrm>
          <a:prstGeom prst="rect">
            <a:avLst/>
          </a:prstGeom>
          <a:noFill/>
        </p:spPr>
        <p:txBody>
          <a:bodyPr wrap="square" anchor="t" lIns="45720" rIns="45720">
            <a:spAutoFit/>
          </a:bodyPr>
          <a:lstStyle/>
          <a:p>
            <a:pPr algn="l">
              <a:spcAft>
                <a:spcPts val="400"/>
              </a:spcAft>
            </a:pPr>
            <a:r>
              <a:rPr sz="1400" b="1">
                <a:solidFill>
                  <a:srgbClr val="16A34A"/>
                </a:solidFill>
                <a:latin typeface="Calibri"/>
              </a:rPr>
              <a:t>Performance</a:t>
            </a:r>
          </a:p>
        </p:txBody>
      </p:sp>
      <p:sp>
        <p:nvSpPr>
          <p:cNvPr id="19" name="TextBox 18"/>
          <p:cNvSpPr txBox="1"/>
          <p:nvPr/>
        </p:nvSpPr>
        <p:spPr>
          <a:xfrm>
            <a:off x="6373368" y="160020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Lot de milliers de paiements en quelques secondes</a:t>
            </a:r>
          </a:p>
          <a:p>
            <a:pPr algn="l">
              <a:spcAft>
                <a:spcPts val="400"/>
              </a:spcAft>
            </a:pPr>
            <a:r>
              <a:rPr sz="1200" b="0">
                <a:solidFill>
                  <a:srgbClr val="111827"/>
                </a:solidFill>
                <a:latin typeface="Calibri"/>
              </a:rPr>
              <a:t>• KPI par agrégations SQL</a:t>
            </a:r>
          </a:p>
        </p:txBody>
      </p:sp>
      <p:sp>
        <p:nvSpPr>
          <p:cNvPr id="20" name="Rounded Rectangle 19"/>
          <p:cNvSpPr/>
          <p:nvPr/>
        </p:nvSpPr>
        <p:spPr>
          <a:xfrm>
            <a:off x="9084564" y="114300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84564" y="1143000"/>
            <a:ext cx="73152" cy="2423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49156" y="1216152"/>
            <a:ext cx="2418588" cy="411480"/>
          </a:xfrm>
          <a:prstGeom prst="rect">
            <a:avLst/>
          </a:prstGeom>
          <a:noFill/>
        </p:spPr>
        <p:txBody>
          <a:bodyPr wrap="square" anchor="t" lIns="45720" rIns="45720">
            <a:spAutoFit/>
          </a:bodyPr>
          <a:lstStyle/>
          <a:p>
            <a:pPr algn="l">
              <a:spcAft>
                <a:spcPts val="400"/>
              </a:spcAft>
            </a:pPr>
            <a:r>
              <a:rPr sz="1400" b="1">
                <a:solidFill>
                  <a:srgbClr val="F59E0B"/>
                </a:solidFill>
                <a:latin typeface="Calibri"/>
              </a:rPr>
              <a:t>Portabilité</a:t>
            </a:r>
          </a:p>
        </p:txBody>
      </p:sp>
      <p:sp>
        <p:nvSpPr>
          <p:cNvPr id="23" name="TextBox 22"/>
          <p:cNvSpPr txBox="1"/>
          <p:nvPr/>
        </p:nvSpPr>
        <p:spPr>
          <a:xfrm>
            <a:off x="9249156" y="160020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PostgreSQL en production, H2 en test</a:t>
            </a:r>
          </a:p>
          <a:p>
            <a:pPr algn="l">
              <a:spcAft>
                <a:spcPts val="400"/>
              </a:spcAft>
            </a:pPr>
            <a:r>
              <a:rPr sz="1200" b="0">
                <a:solidFill>
                  <a:srgbClr val="111827"/>
                </a:solidFill>
                <a:latin typeface="Calibri"/>
              </a:rPr>
              <a:t>• Conteneurisation Docker</a:t>
            </a:r>
          </a:p>
        </p:txBody>
      </p:sp>
      <p:sp>
        <p:nvSpPr>
          <p:cNvPr id="24" name="Rounded Rectangle 23"/>
          <p:cNvSpPr/>
          <p:nvPr/>
        </p:nvSpPr>
        <p:spPr>
          <a:xfrm>
            <a:off x="457200" y="379476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794760"/>
            <a:ext cx="73152" cy="24231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67912"/>
            <a:ext cx="2418588" cy="411480"/>
          </a:xfrm>
          <a:prstGeom prst="rect">
            <a:avLst/>
          </a:prstGeom>
          <a:noFill/>
        </p:spPr>
        <p:txBody>
          <a:bodyPr wrap="square" anchor="t" lIns="45720" rIns="45720">
            <a:spAutoFit/>
          </a:bodyPr>
          <a:lstStyle/>
          <a:p>
            <a:pPr algn="l">
              <a:spcAft>
                <a:spcPts val="400"/>
              </a:spcAft>
            </a:pPr>
            <a:r>
              <a:rPr sz="1400" b="1">
                <a:solidFill>
                  <a:srgbClr val="DC2626"/>
                </a:solidFill>
                <a:latin typeface="Calibri"/>
              </a:rPr>
              <a:t>Maintenabilité</a:t>
            </a:r>
          </a:p>
        </p:txBody>
      </p:sp>
      <p:sp>
        <p:nvSpPr>
          <p:cNvPr id="27" name="TextBox 26"/>
          <p:cNvSpPr txBox="1"/>
          <p:nvPr/>
        </p:nvSpPr>
        <p:spPr>
          <a:xfrm>
            <a:off x="621792" y="425196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Architecture en couches, DTO</a:t>
            </a:r>
          </a:p>
          <a:p>
            <a:pPr algn="l">
              <a:spcAft>
                <a:spcPts val="400"/>
              </a:spcAft>
            </a:pPr>
            <a:r>
              <a:rPr sz="1200" b="0">
                <a:solidFill>
                  <a:srgbClr val="111827"/>
                </a:solidFill>
                <a:latin typeface="Calibri"/>
              </a:rPr>
              <a:t>• IA désactivable sans impact</a:t>
            </a:r>
          </a:p>
        </p:txBody>
      </p:sp>
      <p:sp>
        <p:nvSpPr>
          <p:cNvPr id="28" name="Rounded Rectangle 27"/>
          <p:cNvSpPr/>
          <p:nvPr/>
        </p:nvSpPr>
        <p:spPr>
          <a:xfrm>
            <a:off x="3332988" y="379476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2988" y="3794760"/>
            <a:ext cx="73152" cy="242316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97580" y="3867912"/>
            <a:ext cx="2418588" cy="411480"/>
          </a:xfrm>
          <a:prstGeom prst="rect">
            <a:avLst/>
          </a:prstGeom>
          <a:noFill/>
        </p:spPr>
        <p:txBody>
          <a:bodyPr wrap="square" anchor="t" lIns="45720" rIns="45720">
            <a:spAutoFit/>
          </a:bodyPr>
          <a:lstStyle/>
          <a:p>
            <a:pPr algn="l">
              <a:spcAft>
                <a:spcPts val="400"/>
              </a:spcAft>
            </a:pPr>
            <a:r>
              <a:rPr sz="1400" b="1">
                <a:solidFill>
                  <a:srgbClr val="4648E0"/>
                </a:solidFill>
                <a:latin typeface="Calibri"/>
              </a:rPr>
              <a:t>Ergonomie</a:t>
            </a:r>
          </a:p>
        </p:txBody>
      </p:sp>
      <p:sp>
        <p:nvSpPr>
          <p:cNvPr id="31" name="TextBox 30"/>
          <p:cNvSpPr txBox="1"/>
          <p:nvPr/>
        </p:nvSpPr>
        <p:spPr>
          <a:xfrm>
            <a:off x="3497580" y="425196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Interface React unifiée</a:t>
            </a:r>
          </a:p>
          <a:p>
            <a:pPr algn="l">
              <a:spcAft>
                <a:spcPts val="400"/>
              </a:spcAft>
            </a:pPr>
            <a:r>
              <a:rPr sz="1200" b="0">
                <a:solidFill>
                  <a:srgbClr val="111827"/>
                </a:solidFill>
                <a:latin typeface="Calibri"/>
              </a:rPr>
              <a:t>• Aperçu XML coloré, erreurs surlignées</a:t>
            </a:r>
          </a:p>
        </p:txBody>
      </p:sp>
      <p:sp>
        <p:nvSpPr>
          <p:cNvPr id="32" name="Rounded Rectangle 31"/>
          <p:cNvSpPr/>
          <p:nvPr/>
        </p:nvSpPr>
        <p:spPr>
          <a:xfrm>
            <a:off x="6208776" y="3794760"/>
            <a:ext cx="2647188" cy="24231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794760"/>
            <a:ext cx="73152" cy="242316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73368" y="3867912"/>
            <a:ext cx="2418588" cy="411480"/>
          </a:xfrm>
          <a:prstGeom prst="rect">
            <a:avLst/>
          </a:prstGeom>
          <a:noFill/>
        </p:spPr>
        <p:txBody>
          <a:bodyPr wrap="square" anchor="t" lIns="45720" rIns="45720">
            <a:spAutoFit/>
          </a:bodyPr>
          <a:lstStyle/>
          <a:p>
            <a:pPr algn="l">
              <a:spcAft>
                <a:spcPts val="400"/>
              </a:spcAft>
            </a:pPr>
            <a:r>
              <a:rPr sz="1400" b="1">
                <a:solidFill>
                  <a:srgbClr val="1F2235"/>
                </a:solidFill>
                <a:latin typeface="Calibri"/>
              </a:rPr>
              <a:t>Observabilité</a:t>
            </a:r>
          </a:p>
        </p:txBody>
      </p:sp>
      <p:sp>
        <p:nvSpPr>
          <p:cNvPr id="35" name="TextBox 34"/>
          <p:cNvSpPr txBox="1"/>
          <p:nvPr/>
        </p:nvSpPr>
        <p:spPr>
          <a:xfrm>
            <a:off x="6373368" y="4251960"/>
            <a:ext cx="2418588" cy="1920240"/>
          </a:xfrm>
          <a:prstGeom prst="rect">
            <a:avLst/>
          </a:prstGeom>
          <a:noFill/>
        </p:spPr>
        <p:txBody>
          <a:bodyPr wrap="square" anchor="t" lIns="45720" rIns="45720">
            <a:spAutoFit/>
          </a:bodyPr>
          <a:lstStyle/>
          <a:p>
            <a:pPr algn="l">
              <a:spcAft>
                <a:spcPts val="400"/>
              </a:spcAft>
            </a:pPr>
            <a:r>
              <a:rPr sz="1200" b="0">
                <a:solidFill>
                  <a:srgbClr val="111827"/>
                </a:solidFill>
                <a:latin typeface="Calibri"/>
              </a:rPr>
              <a:t>• Documentation OpenAPI / Swagger</a:t>
            </a:r>
          </a:p>
          <a:p>
            <a:pPr algn="l">
              <a:spcAft>
                <a:spcPts val="400"/>
              </a:spcAft>
            </a:pPr>
            <a:r>
              <a:rPr sz="1200" b="0">
                <a:solidFill>
                  <a:srgbClr val="111827"/>
                </a:solidFill>
                <a:latin typeface="Calibri"/>
              </a:rPr>
              <a:t>• Logs structurés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Diagramme de cas d'utilisation global</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Besoins et acteurs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12 / 21</a:t>
            </a:r>
          </a:p>
        </p:txBody>
      </p:sp>
      <p:pic>
        <p:nvPicPr>
          <p:cNvPr id="8" name="Picture 7" descr="fig2_3_usecase_0.png"/>
          <p:cNvPicPr>
            <a:picLocks noChangeAspect="1"/>
          </p:cNvPicPr>
          <p:nvPr/>
        </p:nvPicPr>
        <p:blipFill>
          <a:blip r:embed="rId2"/>
          <a:stretch>
            <a:fillRect/>
          </a:stretch>
        </p:blipFill>
        <p:spPr>
          <a:xfrm>
            <a:off x="1134936" y="1143000"/>
            <a:ext cx="2485008" cy="4846320"/>
          </a:xfrm>
          <a:prstGeom prst="rect">
            <a:avLst/>
          </a:prstGeom>
          <a:ln w="9525">
            <a:solidFill>
              <a:srgbClr val="D1D5DB"/>
            </a:solidFill>
          </a:ln>
        </p:spPr>
      </p:pic>
      <p:sp>
        <p:nvSpPr>
          <p:cNvPr id="9" name="TextBox 8"/>
          <p:cNvSpPr txBox="1"/>
          <p:nvPr/>
        </p:nvSpPr>
        <p:spPr>
          <a:xfrm>
            <a:off x="4572000" y="1234440"/>
            <a:ext cx="7159752" cy="4892040"/>
          </a:xfrm>
          <a:prstGeom prst="rect">
            <a:avLst/>
          </a:prstGeom>
          <a:noFill/>
        </p:spPr>
        <p:txBody>
          <a:bodyPr wrap="square" anchor="t" lIns="45720" rIns="45720">
            <a:spAutoFit/>
          </a:bodyPr>
          <a:lstStyle/>
          <a:p>
            <a:pPr algn="l">
              <a:spcAft>
                <a:spcPts val="400"/>
              </a:spcAft>
            </a:pPr>
            <a:r>
              <a:rPr sz="1500" b="0">
                <a:solidFill>
                  <a:srgbClr val="111827"/>
                </a:solidFill>
                <a:latin typeface="Calibri"/>
              </a:rPr>
              <a:t>• S'authentifier : commun à tous les acteurs</a:t>
            </a:r>
          </a:p>
          <a:p>
            <a:pPr algn="l">
              <a:spcAft>
                <a:spcPts val="400"/>
              </a:spcAft>
            </a:pPr>
            <a:r>
              <a:rPr sz="1500" b="0">
                <a:solidFill>
                  <a:srgbClr val="111827"/>
                </a:solidFill>
                <a:latin typeface="Calibri"/>
              </a:rPr>
              <a:t>• Administrateur : utilisateurs, rôles, schémas XSD, supervision IA</a:t>
            </a:r>
          </a:p>
          <a:p>
            <a:pPr algn="l">
              <a:spcAft>
                <a:spcPts val="400"/>
              </a:spcAft>
            </a:pPr>
            <a:r>
              <a:rPr sz="1500" b="0">
                <a:solidFill>
                  <a:srgbClr val="111827"/>
                </a:solidFill>
                <a:latin typeface="Calibri"/>
              </a:rPr>
              <a:t>• Gestionnaire RH : lots, génération SEPA (inclut la validation XSD), anomalies</a:t>
            </a:r>
          </a:p>
          <a:p>
            <a:pPr algn="l">
              <a:spcAft>
                <a:spcPts val="400"/>
              </a:spcAft>
            </a:pPr>
            <a:r>
              <a:rPr sz="1500" b="0">
                <a:solidFill>
                  <a:srgbClr val="111827"/>
                </a:solidFill>
                <a:latin typeface="Calibri"/>
              </a:rPr>
              <a:t>• Validateur : approbation des transactions, consultation</a:t>
            </a:r>
          </a:p>
          <a:p>
            <a:pPr algn="l">
              <a:spcAft>
                <a:spcPts val="400"/>
              </a:spcAft>
            </a:pPr>
            <a:r>
              <a:rPr sz="1500" b="0">
                <a:solidFill>
                  <a:srgbClr val="111827"/>
                </a:solidFill>
                <a:latin typeface="Calibri"/>
              </a:rPr>
              <a:t>• Auditeur : journal d'audit et indicateurs</a:t>
            </a:r>
          </a:p>
          <a:p>
            <a:pPr algn="l">
              <a:spcAft>
                <a:spcPts val="400"/>
              </a:spcAft>
            </a:pPr>
            <a:r>
              <a:rPr sz="1500" b="0">
                <a:solidFill>
                  <a:srgbClr val="111827"/>
                </a:solidFill>
                <a:latin typeface="Calibri"/>
              </a:rPr>
              <a:t>• Module IA : score et raisons des montants suspects</a:t>
            </a:r>
          </a:p>
          <a:p>
            <a:pPr algn="l" lvl="1">
              <a:spcAft>
                <a:spcPts val="400"/>
              </a:spcAft>
            </a:pPr>
            <a:r>
              <a:rPr sz="1300" b="0">
                <a:solidFill>
                  <a:srgbClr val="6B7280"/>
                </a:solidFill>
                <a:latin typeface="Calibri"/>
              </a:rPr>
              <a:t>– La détection IA complète les contrôles quand le service est activé</a:t>
            </a:r>
          </a:p>
        </p:txBody>
      </p:sp>
      <p:sp>
        <p:nvSpPr>
          <p:cNvPr id="10" name="TextBox 9"/>
          <p:cNvSpPr txBox="1"/>
          <p:nvPr/>
        </p:nvSpPr>
        <p:spPr>
          <a:xfrm>
            <a:off x="457200" y="5989320"/>
            <a:ext cx="6949440"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Figure 2.3 du rapport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Méthodologie : Agile Scrum</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Méthodologie et Sprint 0</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13 / 21</a:t>
            </a:r>
          </a:p>
        </p:txBody>
      </p:sp>
      <p:pic>
        <p:nvPicPr>
          <p:cNvPr id="8" name="Picture 7" descr="fig1_2_scrum_0.png"/>
          <p:cNvPicPr>
            <a:picLocks noChangeAspect="1"/>
          </p:cNvPicPr>
          <p:nvPr/>
        </p:nvPicPr>
        <p:blipFill>
          <a:blip r:embed="rId2"/>
          <a:stretch>
            <a:fillRect/>
          </a:stretch>
        </p:blipFill>
        <p:spPr>
          <a:xfrm>
            <a:off x="457200" y="1948537"/>
            <a:ext cx="4572000" cy="3189526"/>
          </a:xfrm>
          <a:prstGeom prst="rect">
            <a:avLst/>
          </a:prstGeom>
          <a:ln w="9525">
            <a:solidFill>
              <a:srgbClr val="D1D5DB"/>
            </a:solidFill>
          </a:ln>
        </p:spPr>
      </p:pic>
      <p:sp>
        <p:nvSpPr>
          <p:cNvPr id="9" name="TextBox 8"/>
          <p:cNvSpPr txBox="1"/>
          <p:nvPr/>
        </p:nvSpPr>
        <p:spPr>
          <a:xfrm>
            <a:off x="457200" y="5943600"/>
            <a:ext cx="4572000"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Figure 1.2 du rapport — Cycle Scrum</a:t>
            </a:r>
          </a:p>
        </p:txBody>
      </p:sp>
      <p:graphicFrame>
        <p:nvGraphicFramePr>
          <p:cNvPr id="10" name="Table 9"/>
          <p:cNvGraphicFramePr>
            <a:graphicFrameLocks noGrp="1"/>
          </p:cNvGraphicFramePr>
          <p:nvPr/>
        </p:nvGraphicFramePr>
        <p:xfrm>
          <a:off x="5303520" y="1234440"/>
          <a:ext cx="6428231" cy="3401568"/>
        </p:xfrm>
        <a:graphic>
          <a:graphicData uri="http://schemas.openxmlformats.org/drawingml/2006/table">
            <a:tbl>
              <a:tblPr firstRow="1" bandRow="1">
                <a:tableStyleId>{5C22544A-7EE6-4342-B048-85BDC9FD1C3A}</a:tableStyleId>
              </a:tblPr>
              <a:tblGrid>
                <a:gridCol w="1326460"/>
                <a:gridCol w="5101771"/>
              </a:tblGrid>
              <a:tr h="566928">
                <a:tc>
                  <a:txBody>
                    <a:bodyPr wrap="square"/>
                    <a:lstStyle/>
                    <a:p>
                      <a:r>
                        <a:rPr sz="1300" b="1">
                          <a:solidFill>
                            <a:srgbClr val="FFFFFF"/>
                          </a:solidFill>
                          <a:latin typeface="Calibri"/>
                        </a:rPr>
                        <a:t>Sprint</a:t>
                      </a:r>
                    </a:p>
                  </a:txBody>
                  <a:tcPr marL="54864" marR="54864" marT="27432" marB="27432" anchor="ctr">
                    <a:solidFill>
                      <a:srgbClr val="1F2235"/>
                    </a:solidFill>
                  </a:tcPr>
                </a:tc>
                <a:tc>
                  <a:txBody>
                    <a:bodyPr wrap="square"/>
                    <a:lstStyle/>
                    <a:p>
                      <a:r>
                        <a:rPr sz="1300" b="1">
                          <a:solidFill>
                            <a:srgbClr val="FFFFFF"/>
                          </a:solidFill>
                          <a:latin typeface="Calibri"/>
                        </a:rPr>
                        <a:t>Contenu</a:t>
                      </a:r>
                    </a:p>
                  </a:txBody>
                  <a:tcPr marL="54864" marR="54864" marT="27432" marB="27432" anchor="ctr">
                    <a:solidFill>
                      <a:srgbClr val="1F2235"/>
                    </a:solidFill>
                  </a:tcPr>
                </a:tc>
              </a:tr>
              <a:tr h="566928">
                <a:tc>
                  <a:txBody>
                    <a:bodyPr wrap="square"/>
                    <a:lstStyle/>
                    <a:p>
                      <a:r>
                        <a:rPr sz="1300" b="1">
                          <a:solidFill>
                            <a:srgbClr val="111827"/>
                          </a:solidFill>
                          <a:latin typeface="Calibri"/>
                        </a:rPr>
                        <a:t>Sprint 0</a:t>
                      </a:r>
                    </a:p>
                  </a:txBody>
                  <a:tcPr marL="54864" marR="54864" marT="27432" marB="27432" anchor="ctr">
                    <a:solidFill>
                      <a:srgbClr val="FFFFFF"/>
                    </a:solidFill>
                  </a:tcPr>
                </a:tc>
                <a:tc>
                  <a:txBody>
                    <a:bodyPr wrap="square"/>
                    <a:lstStyle/>
                    <a:p>
                      <a:r>
                        <a:rPr sz="1300" b="0">
                          <a:solidFill>
                            <a:srgbClr val="111827"/>
                          </a:solidFill>
                          <a:latin typeface="Calibri"/>
                        </a:rPr>
                        <a:t>Étude du domaine, choix technologiques, backlog, conception globale</a:t>
                      </a:r>
                    </a:p>
                  </a:txBody>
                  <a:tcPr marL="54864" marR="54864" marT="27432" marB="27432" anchor="ctr">
                    <a:solidFill>
                      <a:srgbClr val="FFFFFF"/>
                    </a:solidFill>
                  </a:tcPr>
                </a:tc>
              </a:tr>
              <a:tr h="566928">
                <a:tc>
                  <a:txBody>
                    <a:bodyPr wrap="square"/>
                    <a:lstStyle/>
                    <a:p>
                      <a:r>
                        <a:rPr sz="1300" b="1">
                          <a:solidFill>
                            <a:srgbClr val="111827"/>
                          </a:solidFill>
                          <a:latin typeface="Calibri"/>
                        </a:rPr>
                        <a:t>Sprint 1</a:t>
                      </a:r>
                    </a:p>
                  </a:txBody>
                  <a:tcPr marL="54864" marR="54864" marT="27432" marB="27432" anchor="ctr">
                    <a:solidFill>
                      <a:srgbClr val="EEF0FF"/>
                    </a:solidFill>
                  </a:tcPr>
                </a:tc>
                <a:tc>
                  <a:txBody>
                    <a:bodyPr wrap="square"/>
                    <a:lstStyle/>
                    <a:p>
                      <a:r>
                        <a:rPr sz="1300" b="0">
                          <a:solidFill>
                            <a:srgbClr val="111827"/>
                          </a:solidFill>
                          <a:latin typeface="Calibri"/>
                        </a:rPr>
                        <a:t>Authentification JWT, utilisateurs et rôles, journal d'audit</a:t>
                      </a:r>
                    </a:p>
                  </a:txBody>
                  <a:tcPr marL="54864" marR="54864" marT="27432" marB="27432" anchor="ctr">
                    <a:solidFill>
                      <a:srgbClr val="EEF0FF"/>
                    </a:solidFill>
                  </a:tcPr>
                </a:tc>
              </a:tr>
              <a:tr h="566928">
                <a:tc>
                  <a:txBody>
                    <a:bodyPr wrap="square"/>
                    <a:lstStyle/>
                    <a:p>
                      <a:r>
                        <a:rPr sz="1300" b="1">
                          <a:solidFill>
                            <a:srgbClr val="111827"/>
                          </a:solidFill>
                          <a:latin typeface="Calibri"/>
                        </a:rPr>
                        <a:t>Sprint 2</a:t>
                      </a:r>
                    </a:p>
                  </a:txBody>
                  <a:tcPr marL="54864" marR="54864" marT="27432" marB="27432" anchor="ctr">
                    <a:solidFill>
                      <a:srgbClr val="FFFFFF"/>
                    </a:solidFill>
                  </a:tcPr>
                </a:tc>
                <a:tc>
                  <a:txBody>
                    <a:bodyPr wrap="square"/>
                    <a:lstStyle/>
                    <a:p>
                      <a:r>
                        <a:rPr sz="1300" b="0">
                          <a:solidFill>
                            <a:srgbClr val="111827"/>
                          </a:solidFill>
                          <a:latin typeface="Calibri"/>
                        </a:rPr>
                        <a:t>Gestion dynamique des XSD, virements de masse pain.001</a:t>
                      </a:r>
                    </a:p>
                  </a:txBody>
                  <a:tcPr marL="54864" marR="54864" marT="27432" marB="27432" anchor="ctr">
                    <a:solidFill>
                      <a:srgbClr val="FFFFFF"/>
                    </a:solidFill>
                  </a:tcPr>
                </a:tc>
              </a:tr>
              <a:tr h="566928">
                <a:tc>
                  <a:txBody>
                    <a:bodyPr wrap="square"/>
                    <a:lstStyle/>
                    <a:p>
                      <a:r>
                        <a:rPr sz="1300" b="1">
                          <a:solidFill>
                            <a:srgbClr val="111827"/>
                          </a:solidFill>
                          <a:latin typeface="Calibri"/>
                        </a:rPr>
                        <a:t>Sprint 3</a:t>
                      </a:r>
                    </a:p>
                  </a:txBody>
                  <a:tcPr marL="54864" marR="54864" marT="27432" marB="27432" anchor="ctr">
                    <a:solidFill>
                      <a:srgbClr val="EEF0FF"/>
                    </a:solidFill>
                  </a:tcPr>
                </a:tc>
                <a:tc>
                  <a:txBody>
                    <a:bodyPr wrap="square"/>
                    <a:lstStyle/>
                    <a:p>
                      <a:r>
                        <a:rPr sz="1300" b="0">
                          <a:solidFill>
                            <a:srgbClr val="111827"/>
                          </a:solidFill>
                          <a:latin typeface="Calibri"/>
                        </a:rPr>
                        <a:t>Détection hybride (règles Java + IA Python), recommandations</a:t>
                      </a:r>
                    </a:p>
                  </a:txBody>
                  <a:tcPr marL="54864" marR="54864" marT="27432" marB="27432" anchor="ctr">
                    <a:solidFill>
                      <a:srgbClr val="EEF0FF"/>
                    </a:solidFill>
                  </a:tcPr>
                </a:tc>
              </a:tr>
              <a:tr h="566928">
                <a:tc>
                  <a:txBody>
                    <a:bodyPr wrap="square"/>
                    <a:lstStyle/>
                    <a:p>
                      <a:r>
                        <a:rPr sz="1300" b="1">
                          <a:solidFill>
                            <a:srgbClr val="111827"/>
                          </a:solidFill>
                          <a:latin typeface="Calibri"/>
                        </a:rPr>
                        <a:t>Sprint 4</a:t>
                      </a:r>
                    </a:p>
                  </a:txBody>
                  <a:tcPr marL="54864" marR="54864" marT="27432" marB="27432" anchor="ctr">
                    <a:solidFill>
                      <a:srgbClr val="FFFFFF"/>
                    </a:solidFill>
                  </a:tcPr>
                </a:tc>
                <a:tc>
                  <a:txBody>
                    <a:bodyPr wrap="square"/>
                    <a:lstStyle/>
                    <a:p>
                      <a:r>
                        <a:rPr sz="1300" b="0">
                          <a:solidFill>
                            <a:srgbClr val="111827"/>
                          </a:solidFill>
                          <a:latin typeface="Calibri"/>
                        </a:rPr>
                        <a:t>Tableau de bord KPI, cycle de vie des anomalies, Docker</a:t>
                      </a:r>
                    </a:p>
                  </a:txBody>
                  <a:tcPr marL="54864" marR="54864" marT="27432" marB="27432" anchor="ctr">
                    <a:solidFill>
                      <a:srgbClr val="FFFFFF"/>
                    </a:solidFill>
                  </a:tcPr>
                </a:tc>
              </a:tr>
            </a:tbl>
          </a:graphicData>
        </a:graphic>
      </p:graphicFrame>
      <p:sp>
        <p:nvSpPr>
          <p:cNvPr id="11" name="TextBox 10"/>
          <p:cNvSpPr txBox="1"/>
          <p:nvPr/>
        </p:nvSpPr>
        <p:spPr>
          <a:xfrm>
            <a:off x="5303520" y="5532120"/>
            <a:ext cx="6428232" cy="822960"/>
          </a:xfrm>
          <a:prstGeom prst="rect">
            <a:avLst/>
          </a:prstGeom>
          <a:noFill/>
        </p:spPr>
        <p:txBody>
          <a:bodyPr wrap="square" anchor="t" lIns="45720" rIns="45720">
            <a:spAutoFit/>
          </a:bodyPr>
          <a:lstStyle/>
          <a:p>
            <a:pPr algn="l">
              <a:spcAft>
                <a:spcPts val="400"/>
              </a:spcAft>
            </a:pPr>
            <a:r>
              <a:rPr sz="1300" b="0">
                <a:solidFill>
                  <a:srgbClr val="6B7280"/>
                </a:solidFill>
                <a:latin typeface="Calibri"/>
              </a:rPr>
              <a:t>Choisi face au cycle en cascade : domaines hétérogènes (ISO 20022, règles, IA, web), retours fréquents de l'encadrant métier, backlog priorisé MoSCoW (33 user stories).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Sprint 0 : choix technologiques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Méthodologie et Sprint 0</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14 / 21</a:t>
            </a:r>
          </a:p>
        </p:txBody>
      </p:sp>
      <p:graphicFrame>
        <p:nvGraphicFramePr>
          <p:cNvPr id="8" name="Table 7"/>
          <p:cNvGraphicFramePr>
            <a:graphicFrameLocks noGrp="1"/>
          </p:cNvGraphicFramePr>
          <p:nvPr/>
        </p:nvGraphicFramePr>
        <p:xfrm>
          <a:off x="457200" y="1143000"/>
          <a:ext cx="11274550" cy="3401568"/>
        </p:xfrm>
        <a:graphic>
          <a:graphicData uri="http://schemas.openxmlformats.org/drawingml/2006/table">
            <a:tbl>
              <a:tblPr firstRow="1" bandRow="1">
                <a:tableStyleId>{5C22544A-7EE6-4342-B048-85BDC9FD1C3A}</a:tableStyleId>
              </a:tblPr>
              <a:tblGrid>
                <a:gridCol w="1789611"/>
                <a:gridCol w="2863378"/>
                <a:gridCol w="2863378"/>
                <a:gridCol w="3758183"/>
              </a:tblGrid>
              <a:tr h="566928">
                <a:tc>
                  <a:txBody>
                    <a:bodyPr wrap="square"/>
                    <a:lstStyle/>
                    <a:p>
                      <a:r>
                        <a:rPr sz="1300" b="1">
                          <a:solidFill>
                            <a:srgbClr val="FFFFFF"/>
                          </a:solidFill>
                          <a:latin typeface="Calibri"/>
                        </a:rPr>
                        <a:t>Couche</a:t>
                      </a:r>
                    </a:p>
                  </a:txBody>
                  <a:tcPr marL="54864" marR="54864" marT="27432" marB="27432" anchor="ctr">
                    <a:solidFill>
                      <a:srgbClr val="1F2235"/>
                    </a:solidFill>
                  </a:tcPr>
                </a:tc>
                <a:tc>
                  <a:txBody>
                    <a:bodyPr wrap="square"/>
                    <a:lstStyle/>
                    <a:p>
                      <a:r>
                        <a:rPr sz="1300" b="1">
                          <a:solidFill>
                            <a:srgbClr val="FFFFFF"/>
                          </a:solidFill>
                          <a:latin typeface="Calibri"/>
                        </a:rPr>
                        <a:t>Choix retenu</a:t>
                      </a:r>
                    </a:p>
                  </a:txBody>
                  <a:tcPr marL="54864" marR="54864" marT="27432" marB="27432" anchor="ctr">
                    <a:solidFill>
                      <a:srgbClr val="1F2235"/>
                    </a:solidFill>
                  </a:tcPr>
                </a:tc>
                <a:tc>
                  <a:txBody>
                    <a:bodyPr wrap="square"/>
                    <a:lstStyle/>
                    <a:p>
                      <a:r>
                        <a:rPr sz="1300" b="1">
                          <a:solidFill>
                            <a:srgbClr val="FFFFFF"/>
                          </a:solidFill>
                          <a:latin typeface="Calibri"/>
                        </a:rPr>
                        <a:t>Alternatives étudiées</a:t>
                      </a:r>
                    </a:p>
                  </a:txBody>
                  <a:tcPr marL="54864" marR="54864" marT="27432" marB="27432" anchor="ctr">
                    <a:solidFill>
                      <a:srgbClr val="1F2235"/>
                    </a:solidFill>
                  </a:tcPr>
                </a:tc>
                <a:tc>
                  <a:txBody>
                    <a:bodyPr wrap="square"/>
                    <a:lstStyle/>
                    <a:p>
                      <a:r>
                        <a:rPr sz="1300" b="1">
                          <a:solidFill>
                            <a:srgbClr val="FFFFFF"/>
                          </a:solidFill>
                          <a:latin typeface="Calibri"/>
                        </a:rPr>
                        <a:t>Justification</a:t>
                      </a:r>
                    </a:p>
                  </a:txBody>
                  <a:tcPr marL="54864" marR="54864" marT="27432" marB="27432" anchor="ctr">
                    <a:solidFill>
                      <a:srgbClr val="1F2235"/>
                    </a:solidFill>
                  </a:tcPr>
                </a:tc>
              </a:tr>
              <a:tr h="566928">
                <a:tc>
                  <a:txBody>
                    <a:bodyPr wrap="square"/>
                    <a:lstStyle/>
                    <a:p>
                      <a:r>
                        <a:rPr sz="1300" b="1">
                          <a:solidFill>
                            <a:srgbClr val="111827"/>
                          </a:solidFill>
                          <a:latin typeface="Calibri"/>
                        </a:rPr>
                        <a:t>Back-end</a:t>
                      </a:r>
                    </a:p>
                  </a:txBody>
                  <a:tcPr marL="54864" marR="54864" marT="27432" marB="27432" anchor="ctr">
                    <a:solidFill>
                      <a:srgbClr val="FFFFFF"/>
                    </a:solidFill>
                  </a:tcPr>
                </a:tc>
                <a:tc>
                  <a:txBody>
                    <a:bodyPr wrap="square"/>
                    <a:lstStyle/>
                    <a:p>
                      <a:r>
                        <a:rPr sz="1300" b="0">
                          <a:solidFill>
                            <a:srgbClr val="111827"/>
                          </a:solidFill>
                          <a:latin typeface="Calibri"/>
                        </a:rPr>
                        <a:t>Spring Boot 3.3 / Java 17</a:t>
                      </a:r>
                    </a:p>
                  </a:txBody>
                  <a:tcPr marL="54864" marR="54864" marT="27432" marB="27432" anchor="ctr">
                    <a:solidFill>
                      <a:srgbClr val="FFFFFF"/>
                    </a:solidFill>
                  </a:tcPr>
                </a:tc>
                <a:tc>
                  <a:txBody>
                    <a:bodyPr wrap="square"/>
                    <a:lstStyle/>
                    <a:p>
                      <a:r>
                        <a:rPr sz="1300" b="0">
                          <a:solidFill>
                            <a:srgbClr val="111827"/>
                          </a:solidFill>
                          <a:latin typeface="Calibri"/>
                        </a:rPr>
                        <a:t>Node.js / Express, Django</a:t>
                      </a:r>
                    </a:p>
                  </a:txBody>
                  <a:tcPr marL="54864" marR="54864" marT="27432" marB="27432" anchor="ctr">
                    <a:solidFill>
                      <a:srgbClr val="FFFFFF"/>
                    </a:solidFill>
                  </a:tcPr>
                </a:tc>
                <a:tc>
                  <a:txBody>
                    <a:bodyPr wrap="square"/>
                    <a:lstStyle/>
                    <a:p>
                      <a:r>
                        <a:rPr sz="1300" b="0">
                          <a:solidFill>
                            <a:srgbClr val="111827"/>
                          </a:solidFill>
                          <a:latin typeface="Calibri"/>
                        </a:rPr>
                        <a:t>Spring Security 6, JPA, OpenAPI, écosystème entreprise</a:t>
                      </a:r>
                    </a:p>
                  </a:txBody>
                  <a:tcPr marL="54864" marR="54864" marT="27432" marB="27432" anchor="ctr">
                    <a:solidFill>
                      <a:srgbClr val="FFFFFF"/>
                    </a:solidFill>
                  </a:tcPr>
                </a:tc>
              </a:tr>
              <a:tr h="566928">
                <a:tc>
                  <a:txBody>
                    <a:bodyPr wrap="square"/>
                    <a:lstStyle/>
                    <a:p>
                      <a:r>
                        <a:rPr sz="1300" b="1">
                          <a:solidFill>
                            <a:srgbClr val="111827"/>
                          </a:solidFill>
                          <a:latin typeface="Calibri"/>
                        </a:rPr>
                        <a:t>Front-end</a:t>
                      </a:r>
                    </a:p>
                  </a:txBody>
                  <a:tcPr marL="54864" marR="54864" marT="27432" marB="27432" anchor="ctr">
                    <a:solidFill>
                      <a:srgbClr val="EEF0FF"/>
                    </a:solidFill>
                  </a:tcPr>
                </a:tc>
                <a:tc>
                  <a:txBody>
                    <a:bodyPr wrap="square"/>
                    <a:lstStyle/>
                    <a:p>
                      <a:r>
                        <a:rPr sz="1300" b="0">
                          <a:solidFill>
                            <a:srgbClr val="111827"/>
                          </a:solidFill>
                          <a:latin typeface="Calibri"/>
                        </a:rPr>
                        <a:t>React 18 + Vite</a:t>
                      </a:r>
                    </a:p>
                  </a:txBody>
                  <a:tcPr marL="54864" marR="54864" marT="27432" marB="27432" anchor="ctr">
                    <a:solidFill>
                      <a:srgbClr val="EEF0FF"/>
                    </a:solidFill>
                  </a:tcPr>
                </a:tc>
                <a:tc>
                  <a:txBody>
                    <a:bodyPr wrap="square"/>
                    <a:lstStyle/>
                    <a:p>
                      <a:r>
                        <a:rPr sz="1300" b="0">
                          <a:solidFill>
                            <a:srgbClr val="111827"/>
                          </a:solidFill>
                          <a:latin typeface="Calibri"/>
                        </a:rPr>
                        <a:t>Angular 17, Vue.js</a:t>
                      </a:r>
                    </a:p>
                  </a:txBody>
                  <a:tcPr marL="54864" marR="54864" marT="27432" marB="27432" anchor="ctr">
                    <a:solidFill>
                      <a:srgbClr val="EEF0FF"/>
                    </a:solidFill>
                  </a:tcPr>
                </a:tc>
                <a:tc>
                  <a:txBody>
                    <a:bodyPr wrap="square"/>
                    <a:lstStyle/>
                    <a:p>
                      <a:r>
                        <a:rPr sz="1300" b="0">
                          <a:solidFill>
                            <a:srgbClr val="111827"/>
                          </a:solidFill>
                          <a:latin typeface="Calibri"/>
                        </a:rPr>
                        <a:t>Rapidité de développement, écosystème riche</a:t>
                      </a:r>
                    </a:p>
                  </a:txBody>
                  <a:tcPr marL="54864" marR="54864" marT="27432" marB="27432" anchor="ctr">
                    <a:solidFill>
                      <a:srgbClr val="EEF0FF"/>
                    </a:solidFill>
                  </a:tcPr>
                </a:tc>
              </a:tr>
              <a:tr h="566928">
                <a:tc>
                  <a:txBody>
                    <a:bodyPr wrap="square"/>
                    <a:lstStyle/>
                    <a:p>
                      <a:r>
                        <a:rPr sz="1300" b="1">
                          <a:solidFill>
                            <a:srgbClr val="111827"/>
                          </a:solidFill>
                          <a:latin typeface="Calibri"/>
                        </a:rPr>
                        <a:t>IA</a:t>
                      </a:r>
                    </a:p>
                  </a:txBody>
                  <a:tcPr marL="54864" marR="54864" marT="27432" marB="27432" anchor="ctr">
                    <a:solidFill>
                      <a:srgbClr val="FFFFFF"/>
                    </a:solidFill>
                  </a:tcPr>
                </a:tc>
                <a:tc>
                  <a:txBody>
                    <a:bodyPr wrap="square"/>
                    <a:lstStyle/>
                    <a:p>
                      <a:r>
                        <a:rPr sz="1300" b="0">
                          <a:solidFill>
                            <a:srgbClr val="111827"/>
                          </a:solidFill>
                          <a:latin typeface="Calibri"/>
                        </a:rPr>
                        <a:t>Python 3.11, FastAPI, scikit-learn</a:t>
                      </a:r>
                    </a:p>
                  </a:txBody>
                  <a:tcPr marL="54864" marR="54864" marT="27432" marB="27432" anchor="ctr">
                    <a:solidFill>
                      <a:srgbClr val="FFFFFF"/>
                    </a:solidFill>
                  </a:tcPr>
                </a:tc>
                <a:tc>
                  <a:txBody>
                    <a:bodyPr wrap="square"/>
                    <a:lstStyle/>
                    <a:p>
                      <a:r>
                        <a:rPr sz="1300" b="0">
                          <a:solidFill>
                            <a:srgbClr val="111827"/>
                          </a:solidFill>
                          <a:latin typeface="Calibri"/>
                        </a:rPr>
                        <a:t>Spring + Weka, TensorFlow Serving</a:t>
                      </a:r>
                    </a:p>
                  </a:txBody>
                  <a:tcPr marL="54864" marR="54864" marT="27432" marB="27432" anchor="ctr">
                    <a:solidFill>
                      <a:srgbClr val="FFFFFF"/>
                    </a:solidFill>
                  </a:tcPr>
                </a:tc>
                <a:tc>
                  <a:txBody>
                    <a:bodyPr wrap="square"/>
                    <a:lstStyle/>
                    <a:p>
                      <a:r>
                        <a:rPr sz="1300" b="0">
                          <a:solidFill>
                            <a:srgbClr val="111827"/>
                          </a:solidFill>
                          <a:latin typeface="Calibri"/>
                        </a:rPr>
                        <a:t>Isolation Forest, LOF ; API légère</a:t>
                      </a:r>
                    </a:p>
                  </a:txBody>
                  <a:tcPr marL="54864" marR="54864" marT="27432" marB="27432" anchor="ctr">
                    <a:solidFill>
                      <a:srgbClr val="FFFFFF"/>
                    </a:solidFill>
                  </a:tcPr>
                </a:tc>
              </a:tr>
              <a:tr h="566928">
                <a:tc>
                  <a:txBody>
                    <a:bodyPr wrap="square"/>
                    <a:lstStyle/>
                    <a:p>
                      <a:r>
                        <a:rPr sz="1300" b="1">
                          <a:solidFill>
                            <a:srgbClr val="111827"/>
                          </a:solidFill>
                          <a:latin typeface="Calibri"/>
                        </a:rPr>
                        <a:t>Base de données</a:t>
                      </a:r>
                    </a:p>
                  </a:txBody>
                  <a:tcPr marL="54864" marR="54864" marT="27432" marB="27432" anchor="ctr">
                    <a:solidFill>
                      <a:srgbClr val="EEF0FF"/>
                    </a:solidFill>
                  </a:tcPr>
                </a:tc>
                <a:tc>
                  <a:txBody>
                    <a:bodyPr wrap="square"/>
                    <a:lstStyle/>
                    <a:p>
                      <a:r>
                        <a:rPr sz="1300" b="0">
                          <a:solidFill>
                            <a:srgbClr val="111827"/>
                          </a:solidFill>
                          <a:latin typeface="Calibri"/>
                        </a:rPr>
                        <a:t>PostgreSQL 16 (H2 en test)</a:t>
                      </a:r>
                    </a:p>
                  </a:txBody>
                  <a:tcPr marL="54864" marR="54864" marT="27432" marB="27432" anchor="ctr">
                    <a:solidFill>
                      <a:srgbClr val="EEF0FF"/>
                    </a:solidFill>
                  </a:tcPr>
                </a:tc>
                <a:tc>
                  <a:txBody>
                    <a:bodyPr wrap="square"/>
                    <a:lstStyle/>
                    <a:p>
                      <a:r>
                        <a:rPr sz="1300" b="0">
                          <a:solidFill>
                            <a:srgbClr val="111827"/>
                          </a:solidFill>
                          <a:latin typeface="Calibri"/>
                        </a:rPr>
                        <a:t>Oracle</a:t>
                      </a:r>
                    </a:p>
                  </a:txBody>
                  <a:tcPr marL="54864" marR="54864" marT="27432" marB="27432" anchor="ctr">
                    <a:solidFill>
                      <a:srgbClr val="EEF0FF"/>
                    </a:solidFill>
                  </a:tcPr>
                </a:tc>
                <a:tc>
                  <a:txBody>
                    <a:bodyPr wrap="square"/>
                    <a:lstStyle/>
                    <a:p>
                      <a:r>
                        <a:rPr sz="1300" b="0">
                          <a:solidFill>
                            <a:srgbClr val="111827"/>
                          </a:solidFill>
                          <a:latin typeface="Calibri"/>
                        </a:rPr>
                        <a:t>Open source, agrégations SQL pour les KPI</a:t>
                      </a:r>
                    </a:p>
                  </a:txBody>
                  <a:tcPr marL="54864" marR="54864" marT="27432" marB="27432" anchor="ctr">
                    <a:solidFill>
                      <a:srgbClr val="EEF0FF"/>
                    </a:solidFill>
                  </a:tcPr>
                </a:tc>
              </a:tr>
              <a:tr h="566928">
                <a:tc>
                  <a:txBody>
                    <a:bodyPr wrap="square"/>
                    <a:lstStyle/>
                    <a:p>
                      <a:r>
                        <a:rPr sz="1300" b="1">
                          <a:solidFill>
                            <a:srgbClr val="111827"/>
                          </a:solidFill>
                          <a:latin typeface="Calibri"/>
                        </a:rPr>
                        <a:t>DevOps / qualité</a:t>
                      </a:r>
                    </a:p>
                  </a:txBody>
                  <a:tcPr marL="54864" marR="54864" marT="27432" marB="27432" anchor="ctr">
                    <a:solidFill>
                      <a:srgbClr val="FFFFFF"/>
                    </a:solidFill>
                  </a:tcPr>
                </a:tc>
                <a:tc>
                  <a:txBody>
                    <a:bodyPr wrap="square"/>
                    <a:lstStyle/>
                    <a:p>
                      <a:r>
                        <a:rPr sz="1300" b="0">
                          <a:solidFill>
                            <a:srgbClr val="111827"/>
                          </a:solidFill>
                          <a:latin typeface="Calibri"/>
                        </a:rPr>
                        <a:t>Docker Compose, Maven, Git</a:t>
                      </a:r>
                    </a:p>
                  </a:txBody>
                  <a:tcPr marL="54864" marR="54864" marT="27432" marB="27432" anchor="ctr">
                    <a:solidFill>
                      <a:srgbClr val="FFFFFF"/>
                    </a:solidFill>
                  </a:tcPr>
                </a:tc>
                <a:tc>
                  <a:txBody>
                    <a:bodyPr wrap="square"/>
                    <a:lstStyle/>
                    <a:p>
                      <a:r>
                        <a:rPr sz="1300" b="0">
                          <a:solidFill>
                            <a:srgbClr val="111827"/>
                          </a:solidFill>
                          <a:latin typeface="Calibri"/>
                        </a:rPr>
                        <a:t>—</a:t>
                      </a:r>
                    </a:p>
                  </a:txBody>
                  <a:tcPr marL="54864" marR="54864" marT="27432" marB="27432" anchor="ctr">
                    <a:solidFill>
                      <a:srgbClr val="FFFFFF"/>
                    </a:solidFill>
                  </a:tcPr>
                </a:tc>
                <a:tc>
                  <a:txBody>
                    <a:bodyPr wrap="square"/>
                    <a:lstStyle/>
                    <a:p>
                      <a:r>
                        <a:rPr sz="1300" b="0">
                          <a:solidFill>
                            <a:srgbClr val="111827"/>
                          </a:solidFill>
                          <a:latin typeface="Calibri"/>
                        </a:rPr>
                        <a:t>JUnit 5, pytest, Swagger</a:t>
                      </a:r>
                    </a:p>
                  </a:txBody>
                  <a:tcPr marL="54864" marR="54864" marT="27432" marB="27432" anchor="ctr">
                    <a:solidFill>
                      <a:srgbClr val="FFFFFF"/>
                    </a:solidFill>
                  </a:tcPr>
                </a:tc>
              </a:tr>
            </a:tbl>
          </a:graphicData>
        </a:graphic>
      </p:graphicFrame>
      <p:sp>
        <p:nvSpPr>
          <p:cNvPr id="9" name="Rounded Rectangle 8"/>
          <p:cNvSpPr/>
          <p:nvPr/>
        </p:nvSpPr>
        <p:spPr>
          <a:xfrm>
            <a:off x="457200" y="5623560"/>
            <a:ext cx="11274552" cy="731520"/>
          </a:xfrm>
          <a:prstGeom prst="roundRect">
            <a:avLst>
              <a:gd name="adj" fmla="val 15000"/>
            </a:avLst>
          </a:prstGeom>
          <a:solidFill>
            <a:srgbClr val="EEF0FF"/>
          </a:solidFill>
          <a:ln>
            <a:solidFill>
              <a:srgbClr val="464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623560"/>
            <a:ext cx="10908792" cy="731520"/>
          </a:xfrm>
          <a:prstGeom prst="rect">
            <a:avLst/>
          </a:prstGeom>
          <a:noFill/>
        </p:spPr>
        <p:txBody>
          <a:bodyPr wrap="square" anchor="ctr" lIns="45720" rIns="45720">
            <a:spAutoFit/>
          </a:bodyPr>
          <a:lstStyle/>
          <a:p>
            <a:pPr algn="l">
              <a:spcAft>
                <a:spcPts val="400"/>
              </a:spcAft>
            </a:pPr>
            <a:r>
              <a:rPr sz="1400" b="1">
                <a:solidFill>
                  <a:srgbClr val="1F2235"/>
                </a:solidFill>
                <a:latin typeface="Calibri"/>
              </a:rPr>
              <a:t>Détection hybride : règles Java (explicables, sans données d'apprentissage) + Isolation Forest (nouveaux motifs, non supervisé), avec un format de sortie commun.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Architecture logicielle cible</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Méthodologie et Sprint 0</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15 / 21</a:t>
            </a:r>
          </a:p>
        </p:txBody>
      </p:sp>
      <p:pic>
        <p:nvPicPr>
          <p:cNvPr id="8" name="Picture 7" descr="fig2_6_architecture_0.png"/>
          <p:cNvPicPr>
            <a:picLocks noChangeAspect="1"/>
          </p:cNvPicPr>
          <p:nvPr/>
        </p:nvPicPr>
        <p:blipFill>
          <a:blip r:embed="rId2"/>
          <a:stretch>
            <a:fillRect/>
          </a:stretch>
        </p:blipFill>
        <p:spPr>
          <a:xfrm>
            <a:off x="457200" y="2009947"/>
            <a:ext cx="6949440" cy="3112426"/>
          </a:xfrm>
          <a:prstGeom prst="rect">
            <a:avLst/>
          </a:prstGeom>
          <a:ln w="9525">
            <a:solidFill>
              <a:srgbClr val="D1D5DB"/>
            </a:solidFill>
          </a:ln>
        </p:spPr>
      </p:pic>
      <p:sp>
        <p:nvSpPr>
          <p:cNvPr id="9" name="TextBox 8"/>
          <p:cNvSpPr txBox="1"/>
          <p:nvPr/>
        </p:nvSpPr>
        <p:spPr>
          <a:xfrm>
            <a:off x="7680960" y="1234440"/>
            <a:ext cx="4050792" cy="4892040"/>
          </a:xfrm>
          <a:prstGeom prst="rect">
            <a:avLst/>
          </a:prstGeom>
          <a:noFill/>
        </p:spPr>
        <p:txBody>
          <a:bodyPr wrap="square" anchor="t" lIns="45720" rIns="45720">
            <a:spAutoFit/>
          </a:bodyPr>
          <a:lstStyle/>
          <a:p>
            <a:pPr algn="l">
              <a:spcAft>
                <a:spcPts val="400"/>
              </a:spcAft>
            </a:pPr>
            <a:r>
              <a:rPr sz="1500" b="0">
                <a:solidFill>
                  <a:srgbClr val="111827"/>
                </a:solidFill>
                <a:latin typeface="Calibri"/>
              </a:rPr>
              <a:t>• Client React : pages par fonctionnalité, client HTTP centralisé avec jeton</a:t>
            </a:r>
          </a:p>
          <a:p>
            <a:pPr algn="l">
              <a:spcAft>
                <a:spcPts val="400"/>
              </a:spcAft>
            </a:pPr>
            <a:r>
              <a:rPr sz="1500" b="0">
                <a:solidFill>
                  <a:srgbClr val="111827"/>
                </a:solidFill>
                <a:latin typeface="Calibri"/>
              </a:rPr>
              <a:t>• Spring Boot : contrôleurs REST, services, DTO, exceptions centralisées, droits par rôle</a:t>
            </a:r>
          </a:p>
          <a:p>
            <a:pPr algn="l">
              <a:spcAft>
                <a:spcPts val="400"/>
              </a:spcAft>
            </a:pPr>
            <a:r>
              <a:rPr sz="1500" b="0">
                <a:solidFill>
                  <a:srgbClr val="111827"/>
                </a:solidFill>
                <a:latin typeface="Calibri"/>
              </a:rPr>
              <a:t>• Service IA : FastAPI, modèle entraîné versionné</a:t>
            </a:r>
          </a:p>
          <a:p>
            <a:pPr algn="l">
              <a:spcAft>
                <a:spcPts val="400"/>
              </a:spcAft>
            </a:pPr>
            <a:r>
              <a:rPr sz="1500" b="0">
                <a:solidFill>
                  <a:srgbClr val="111827"/>
                </a:solidFill>
                <a:latin typeface="Calibri"/>
              </a:rPr>
              <a:t>• Sécurité : filtre JWT, BCrypt, CORS restreint, session stateless</a:t>
            </a:r>
          </a:p>
          <a:p>
            <a:pPr algn="l">
              <a:spcAft>
                <a:spcPts val="400"/>
              </a:spcAft>
            </a:pPr>
            <a:r>
              <a:rPr sz="1500" b="0">
                <a:solidFill>
                  <a:srgbClr val="111827"/>
                </a:solidFill>
                <a:latin typeface="Calibri"/>
              </a:rPr>
              <a:t>• 4 conteneurs : PostgreSQL, back-end, IA, front-end</a:t>
            </a:r>
          </a:p>
        </p:txBody>
      </p:sp>
      <p:sp>
        <p:nvSpPr>
          <p:cNvPr id="10" name="TextBox 9"/>
          <p:cNvSpPr txBox="1"/>
          <p:nvPr/>
        </p:nvSpPr>
        <p:spPr>
          <a:xfrm>
            <a:off x="457200" y="5989320"/>
            <a:ext cx="6949440"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Figure 2.6 du rapport — Trois services conteneurisés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Avancement : réalisé, en cours, prévu</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Avancement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16 / 21</a:t>
            </a:r>
          </a:p>
        </p:txBody>
      </p:sp>
      <p:graphicFrame>
        <p:nvGraphicFramePr>
          <p:cNvPr id="8" name="Table 7"/>
          <p:cNvGraphicFramePr>
            <a:graphicFrameLocks noGrp="1"/>
          </p:cNvGraphicFramePr>
          <p:nvPr/>
        </p:nvGraphicFramePr>
        <p:xfrm>
          <a:off x="457200" y="1143000"/>
          <a:ext cx="11274550" cy="4608576"/>
        </p:xfrm>
        <a:graphic>
          <a:graphicData uri="http://schemas.openxmlformats.org/drawingml/2006/table">
            <a:tbl>
              <a:tblPr firstRow="1" bandRow="1">
                <a:tableStyleId>{5C22544A-7EE6-4342-B048-85BDC9FD1C3A}</a:tableStyleId>
              </a:tblPr>
              <a:tblGrid>
                <a:gridCol w="1753819"/>
                <a:gridCol w="3841699"/>
                <a:gridCol w="2171395"/>
                <a:gridCol w="1920849"/>
                <a:gridCol w="1586788"/>
              </a:tblGrid>
              <a:tr h="658368">
                <a:tc>
                  <a:txBody>
                    <a:bodyPr wrap="square"/>
                    <a:lstStyle/>
                    <a:p>
                      <a:r>
                        <a:rPr sz="1100" b="1">
                          <a:solidFill>
                            <a:srgbClr val="FFFFFF"/>
                          </a:solidFill>
                          <a:latin typeface="Calibri"/>
                        </a:rPr>
                        <a:t>Sprint</a:t>
                      </a:r>
                    </a:p>
                  </a:txBody>
                  <a:tcPr marL="54864" marR="54864" marT="27432" marB="27432" anchor="ctr">
                    <a:solidFill>
                      <a:srgbClr val="1F2235"/>
                    </a:solidFill>
                  </a:tcPr>
                </a:tc>
                <a:tc>
                  <a:txBody>
                    <a:bodyPr wrap="square"/>
                    <a:lstStyle/>
                    <a:p>
                      <a:r>
                        <a:rPr sz="1100" b="1">
                          <a:solidFill>
                            <a:srgbClr val="FFFFFF"/>
                          </a:solidFill>
                          <a:latin typeface="Calibri"/>
                        </a:rPr>
                        <a:t>Réalisé</a:t>
                      </a:r>
                    </a:p>
                  </a:txBody>
                  <a:tcPr marL="54864" marR="54864" marT="27432" marB="27432" anchor="ctr">
                    <a:solidFill>
                      <a:srgbClr val="1F2235"/>
                    </a:solidFill>
                  </a:tcPr>
                </a:tc>
                <a:tc>
                  <a:txBody>
                    <a:bodyPr wrap="square"/>
                    <a:lstStyle/>
                    <a:p>
                      <a:r>
                        <a:rPr sz="1100" b="1">
                          <a:solidFill>
                            <a:srgbClr val="FFFFFF"/>
                          </a:solidFill>
                          <a:latin typeface="Calibri"/>
                        </a:rPr>
                        <a:t>En cours</a:t>
                      </a:r>
                    </a:p>
                  </a:txBody>
                  <a:tcPr marL="54864" marR="54864" marT="27432" marB="27432" anchor="ctr">
                    <a:solidFill>
                      <a:srgbClr val="1F2235"/>
                    </a:solidFill>
                  </a:tcPr>
                </a:tc>
                <a:tc>
                  <a:txBody>
                    <a:bodyPr wrap="square"/>
                    <a:lstStyle/>
                    <a:p>
                      <a:r>
                        <a:rPr sz="1100" b="1">
                          <a:solidFill>
                            <a:srgbClr val="FFFFFF"/>
                          </a:solidFill>
                          <a:latin typeface="Calibri"/>
                        </a:rPr>
                        <a:t>Prévu</a:t>
                      </a:r>
                    </a:p>
                  </a:txBody>
                  <a:tcPr marL="54864" marR="54864" marT="27432" marB="27432" anchor="ctr">
                    <a:solidFill>
                      <a:srgbClr val="1F2235"/>
                    </a:solidFill>
                  </a:tcPr>
                </a:tc>
                <a:tc>
                  <a:txBody>
                    <a:bodyPr wrap="square"/>
                    <a:lstStyle/>
                    <a:p>
                      <a:r>
                        <a:rPr sz="1100" b="1">
                          <a:solidFill>
                            <a:srgbClr val="FFFFFF"/>
                          </a:solidFill>
                          <a:latin typeface="Calibri"/>
                        </a:rPr>
                        <a:t>Avancement</a:t>
                      </a:r>
                    </a:p>
                  </a:txBody>
                  <a:tcPr marL="54864" marR="54864" marT="27432" marB="27432" anchor="ctr">
                    <a:solidFill>
                      <a:srgbClr val="1F2235"/>
                    </a:solidFill>
                  </a:tcPr>
                </a:tc>
              </a:tr>
              <a:tr h="658368">
                <a:tc>
                  <a:txBody>
                    <a:bodyPr wrap="square"/>
                    <a:lstStyle/>
                    <a:p>
                      <a:r>
                        <a:rPr sz="1100" b="1">
                          <a:solidFill>
                            <a:srgbClr val="111827"/>
                          </a:solidFill>
                          <a:latin typeface="Calibri"/>
                        </a:rPr>
                        <a:t>Sprint 0</a:t>
                      </a:r>
                    </a:p>
                    <a:p>
                      <a:r>
                        <a:rPr sz="1100" b="1">
                          <a:solidFill>
                            <a:srgbClr val="111827"/>
                          </a:solidFill>
                          <a:latin typeface="Calibri"/>
                        </a:rPr>
                        <a:t>Étude</a:t>
                      </a:r>
                    </a:p>
                  </a:txBody>
                  <a:tcPr marL="54864" marR="54864" marT="27432" marB="27432" anchor="ctr">
                    <a:solidFill>
                      <a:srgbClr val="FFFFFF"/>
                    </a:solidFill>
                  </a:tcPr>
                </a:tc>
                <a:tc>
                  <a:txBody>
                    <a:bodyPr wrap="square"/>
                    <a:lstStyle/>
                    <a:p>
                      <a:r>
                        <a:rPr sz="1100" b="0">
                          <a:solidFill>
                            <a:srgbClr val="16A34A"/>
                          </a:solidFill>
                          <a:latin typeface="Calibri"/>
                        </a:rPr>
                        <a:t>Domaine SEPA, choix techniques, backlog, diagrammes globaux</a:t>
                      </a:r>
                    </a:p>
                  </a:txBody>
                  <a:tcPr marL="54864" marR="54864" marT="27432" marB="27432" anchor="ctr">
                    <a:solidFill>
                      <a:srgbClr val="FFFFFF"/>
                    </a:solidFill>
                  </a:tcPr>
                </a:tc>
                <a:tc>
                  <a:txBody>
                    <a:bodyPr wrap="square"/>
                    <a:lstStyle/>
                    <a:p>
                      <a:r>
                        <a:rPr sz="1100" b="0">
                          <a:solidFill>
                            <a:srgbClr val="F59E0B"/>
                          </a:solidFill>
                          <a:latin typeface="Calibri"/>
                        </a:rPr>
                        <a:t>—</a:t>
                      </a:r>
                    </a:p>
                  </a:txBody>
                  <a:tcPr marL="54864" marR="54864" marT="27432" marB="27432" anchor="ctr">
                    <a:solidFill>
                      <a:srgbClr val="FFFFFF"/>
                    </a:solidFill>
                  </a:tcPr>
                </a:tc>
                <a:tc>
                  <a:txBody>
                    <a:bodyPr wrap="square"/>
                    <a:lstStyle/>
                    <a:p>
                      <a:r>
                        <a:rPr sz="1100" b="0">
                          <a:solidFill>
                            <a:srgbClr val="6B7280"/>
                          </a:solidFill>
                          <a:latin typeface="Calibri"/>
                        </a:rPr>
                        <a:t>—</a:t>
                      </a:r>
                    </a:p>
                  </a:txBody>
                  <a:tcPr marL="54864" marR="54864" marT="27432" marB="27432" anchor="ctr">
                    <a:solidFill>
                      <a:srgbClr val="FFFFFF"/>
                    </a:solidFill>
                  </a:tcPr>
                </a:tc>
                <a:tc>
                  <a:txBody>
                    <a:bodyPr wrap="square"/>
                    <a:lstStyle/>
                    <a:p>
                      <a:r>
                        <a:rPr sz="1100" b="0">
                          <a:solidFill>
                            <a:srgbClr val="111827"/>
                          </a:solidFill>
                          <a:latin typeface="Calibri"/>
                        </a:rPr>
                        <a:t/>
                      </a:r>
                    </a:p>
                  </a:txBody>
                  <a:tcPr marL="54864" marR="54864" marT="27432" marB="27432" anchor="ctr">
                    <a:solidFill>
                      <a:srgbClr val="FFFFFF"/>
                    </a:solidFill>
                  </a:tcPr>
                </a:tc>
              </a:tr>
              <a:tr h="658368">
                <a:tc>
                  <a:txBody>
                    <a:bodyPr wrap="square"/>
                    <a:lstStyle/>
                    <a:p>
                      <a:r>
                        <a:rPr sz="1100" b="1">
                          <a:solidFill>
                            <a:srgbClr val="111827"/>
                          </a:solidFill>
                          <a:latin typeface="Calibri"/>
                        </a:rPr>
                        <a:t>Sprint 1</a:t>
                      </a:r>
                    </a:p>
                    <a:p>
                      <a:r>
                        <a:rPr sz="1100" b="1">
                          <a:solidFill>
                            <a:srgbClr val="111827"/>
                          </a:solidFill>
                          <a:latin typeface="Calibri"/>
                        </a:rPr>
                        <a:t>Sécurité</a:t>
                      </a:r>
                    </a:p>
                  </a:txBody>
                  <a:tcPr marL="54864" marR="54864" marT="27432" marB="27432" anchor="ctr">
                    <a:solidFill>
                      <a:srgbClr val="EEF0FF"/>
                    </a:solidFill>
                  </a:tcPr>
                </a:tc>
                <a:tc>
                  <a:txBody>
                    <a:bodyPr wrap="square"/>
                    <a:lstStyle/>
                    <a:p>
                      <a:r>
                        <a:rPr sz="1100" b="0">
                          <a:solidFill>
                            <a:srgbClr val="16A34A"/>
                          </a:solidFill>
                          <a:latin typeface="Calibri"/>
                        </a:rPr>
                        <a:t>JWT + BCrypt, 4 rôles, utilisateurs, journal d'audit</a:t>
                      </a:r>
                    </a:p>
                  </a:txBody>
                  <a:tcPr marL="54864" marR="54864" marT="27432" marB="27432" anchor="ctr">
                    <a:solidFill>
                      <a:srgbClr val="EEF0FF"/>
                    </a:solidFill>
                  </a:tcPr>
                </a:tc>
                <a:tc>
                  <a:txBody>
                    <a:bodyPr wrap="square"/>
                    <a:lstStyle/>
                    <a:p>
                      <a:r>
                        <a:rPr sz="1100" b="0">
                          <a:solidFill>
                            <a:srgbClr val="F59E0B"/>
                          </a:solidFill>
                          <a:latin typeface="Calibri"/>
                        </a:rPr>
                        <a:t>—</a:t>
                      </a:r>
                    </a:p>
                  </a:txBody>
                  <a:tcPr marL="54864" marR="54864" marT="27432" marB="27432" anchor="ctr">
                    <a:solidFill>
                      <a:srgbClr val="EEF0FF"/>
                    </a:solidFill>
                  </a:tcPr>
                </a:tc>
                <a:tc>
                  <a:txBody>
                    <a:bodyPr wrap="square"/>
                    <a:lstStyle/>
                    <a:p>
                      <a:r>
                        <a:rPr sz="1100" b="0">
                          <a:solidFill>
                            <a:srgbClr val="6B7280"/>
                          </a:solidFill>
                          <a:latin typeface="Calibri"/>
                        </a:rPr>
                        <a:t>Connexion faciale (US-33, Could)</a:t>
                      </a:r>
                    </a:p>
                  </a:txBody>
                  <a:tcPr marL="54864" marR="54864" marT="27432" marB="27432" anchor="ctr">
                    <a:solidFill>
                      <a:srgbClr val="EEF0FF"/>
                    </a:solidFill>
                  </a:tcPr>
                </a:tc>
                <a:tc>
                  <a:txBody>
                    <a:bodyPr wrap="square"/>
                    <a:lstStyle/>
                    <a:p>
                      <a:r>
                        <a:rPr sz="1100" b="0">
                          <a:solidFill>
                            <a:srgbClr val="111827"/>
                          </a:solidFill>
                          <a:latin typeface="Calibri"/>
                        </a:rPr>
                        <a:t/>
                      </a:r>
                    </a:p>
                  </a:txBody>
                  <a:tcPr marL="54864" marR="54864" marT="27432" marB="27432" anchor="ctr">
                    <a:solidFill>
                      <a:srgbClr val="EEF0FF"/>
                    </a:solidFill>
                  </a:tcPr>
                </a:tc>
              </a:tr>
              <a:tr h="658368">
                <a:tc>
                  <a:txBody>
                    <a:bodyPr wrap="square"/>
                    <a:lstStyle/>
                    <a:p>
                      <a:r>
                        <a:rPr sz="1100" b="1">
                          <a:solidFill>
                            <a:srgbClr val="111827"/>
                          </a:solidFill>
                          <a:latin typeface="Calibri"/>
                        </a:rPr>
                        <a:t>Sprint 2</a:t>
                      </a:r>
                    </a:p>
                    <a:p>
                      <a:r>
                        <a:rPr sz="1100" b="1">
                          <a:solidFill>
                            <a:srgbClr val="111827"/>
                          </a:solidFill>
                          <a:latin typeface="Calibri"/>
                        </a:rPr>
                        <a:t>XSD et SEPA</a:t>
                      </a:r>
                    </a:p>
                  </a:txBody>
                  <a:tcPr marL="54864" marR="54864" marT="27432" marB="27432" anchor="ctr">
                    <a:solidFill>
                      <a:srgbClr val="FFFFFF"/>
                    </a:solidFill>
                  </a:tcPr>
                </a:tc>
                <a:tc>
                  <a:txBody>
                    <a:bodyPr wrap="square"/>
                    <a:lstStyle/>
                    <a:p>
                      <a:r>
                        <a:rPr sz="1100" b="0">
                          <a:solidFill>
                            <a:srgbClr val="16A34A"/>
                          </a:solidFill>
                          <a:latin typeface="Calibri"/>
                        </a:rPr>
                        <a:t>Import / analyse XSD, génération .03 / .09 / .11, validation, historique</a:t>
                      </a:r>
                    </a:p>
                  </a:txBody>
                  <a:tcPr marL="54864" marR="54864" marT="27432" marB="27432" anchor="ctr">
                    <a:solidFill>
                      <a:srgbClr val="FFFFFF"/>
                    </a:solidFill>
                  </a:tcPr>
                </a:tc>
                <a:tc>
                  <a:txBody>
                    <a:bodyPr wrap="square"/>
                    <a:lstStyle/>
                    <a:p>
                      <a:r>
                        <a:rPr sz="1100" b="0">
                          <a:solidFill>
                            <a:srgbClr val="F59E0B"/>
                          </a:solidFill>
                          <a:latin typeface="Calibri"/>
                        </a:rPr>
                        <a:t>Corrections demandées par l'encadrant</a:t>
                      </a:r>
                    </a:p>
                  </a:txBody>
                  <a:tcPr marL="54864" marR="54864" marT="27432" marB="27432" anchor="ctr">
                    <a:solidFill>
                      <a:srgbClr val="FFFFFF"/>
                    </a:solidFill>
                  </a:tcPr>
                </a:tc>
                <a:tc>
                  <a:txBody>
                    <a:bodyPr wrap="square"/>
                    <a:lstStyle/>
                    <a:p>
                      <a:r>
                        <a:rPr sz="1100" b="0">
                          <a:solidFill>
                            <a:srgbClr val="6B7280"/>
                          </a:solidFill>
                          <a:latin typeface="Calibri"/>
                        </a:rPr>
                        <a:t>—</a:t>
                      </a:r>
                    </a:p>
                  </a:txBody>
                  <a:tcPr marL="54864" marR="54864" marT="27432" marB="27432" anchor="ctr">
                    <a:solidFill>
                      <a:srgbClr val="FFFFFF"/>
                    </a:solidFill>
                  </a:tcPr>
                </a:tc>
                <a:tc>
                  <a:txBody>
                    <a:bodyPr wrap="square"/>
                    <a:lstStyle/>
                    <a:p>
                      <a:r>
                        <a:rPr sz="1100" b="0">
                          <a:solidFill>
                            <a:srgbClr val="111827"/>
                          </a:solidFill>
                          <a:latin typeface="Calibri"/>
                        </a:rPr>
                        <a:t/>
                      </a:r>
                    </a:p>
                  </a:txBody>
                  <a:tcPr marL="54864" marR="54864" marT="27432" marB="27432" anchor="ctr">
                    <a:solidFill>
                      <a:srgbClr val="FFFFFF"/>
                    </a:solidFill>
                  </a:tcPr>
                </a:tc>
              </a:tr>
              <a:tr h="658368">
                <a:tc>
                  <a:txBody>
                    <a:bodyPr wrap="square"/>
                    <a:lstStyle/>
                    <a:p>
                      <a:r>
                        <a:rPr sz="1100" b="1">
                          <a:solidFill>
                            <a:srgbClr val="111827"/>
                          </a:solidFill>
                          <a:latin typeface="Calibri"/>
                        </a:rPr>
                        <a:t>Sprint 3</a:t>
                      </a:r>
                    </a:p>
                    <a:p>
                      <a:r>
                        <a:rPr sz="1100" b="1">
                          <a:solidFill>
                            <a:srgbClr val="111827"/>
                          </a:solidFill>
                          <a:latin typeface="Calibri"/>
                        </a:rPr>
                        <a:t>Anomalies</a:t>
                      </a:r>
                    </a:p>
                  </a:txBody>
                  <a:tcPr marL="54864" marR="54864" marT="27432" marB="27432" anchor="ctr">
                    <a:solidFill>
                      <a:srgbClr val="EEF0FF"/>
                    </a:solidFill>
                  </a:tcPr>
                </a:tc>
                <a:tc>
                  <a:txBody>
                    <a:bodyPr wrap="square"/>
                    <a:lstStyle/>
                    <a:p>
                      <a:r>
                        <a:rPr sz="1100" b="0">
                          <a:solidFill>
                            <a:srgbClr val="16A34A"/>
                          </a:solidFill>
                          <a:latin typeface="Calibri"/>
                        </a:rPr>
                        <a:t>Règles IBAN, BIC, montants, doublons, net &gt; brut ; Isolation Forest ; recommandations</a:t>
                      </a:r>
                    </a:p>
                  </a:txBody>
                  <a:tcPr marL="54864" marR="54864" marT="27432" marB="27432" anchor="ctr">
                    <a:solidFill>
                      <a:srgbClr val="EEF0FF"/>
                    </a:solidFill>
                  </a:tcPr>
                </a:tc>
                <a:tc>
                  <a:txBody>
                    <a:bodyPr wrap="square"/>
                    <a:lstStyle/>
                    <a:p>
                      <a:r>
                        <a:rPr sz="1100" b="0">
                          <a:solidFill>
                            <a:srgbClr val="F59E0B"/>
                          </a:solidFill>
                          <a:latin typeface="Calibri"/>
                        </a:rPr>
                        <a:t>Évaluation chiffrée (précision, rappel, F1)</a:t>
                      </a:r>
                    </a:p>
                  </a:txBody>
                  <a:tcPr marL="54864" marR="54864" marT="27432" marB="27432" anchor="ctr">
                    <a:solidFill>
                      <a:srgbClr val="EEF0FF"/>
                    </a:solidFill>
                  </a:tcPr>
                </a:tc>
                <a:tc>
                  <a:txBody>
                    <a:bodyPr wrap="square"/>
                    <a:lstStyle/>
                    <a:p>
                      <a:r>
                        <a:rPr sz="1100" b="0">
                          <a:solidFill>
                            <a:srgbClr val="6B7280"/>
                          </a:solidFill>
                          <a:latin typeface="Calibri"/>
                        </a:rPr>
                        <a:t>—</a:t>
                      </a:r>
                    </a:p>
                  </a:txBody>
                  <a:tcPr marL="54864" marR="54864" marT="27432" marB="27432" anchor="ctr">
                    <a:solidFill>
                      <a:srgbClr val="EEF0FF"/>
                    </a:solidFill>
                  </a:tcPr>
                </a:tc>
                <a:tc>
                  <a:txBody>
                    <a:bodyPr wrap="square"/>
                    <a:lstStyle/>
                    <a:p>
                      <a:r>
                        <a:rPr sz="1100" b="0">
                          <a:solidFill>
                            <a:srgbClr val="111827"/>
                          </a:solidFill>
                          <a:latin typeface="Calibri"/>
                        </a:rPr>
                        <a:t/>
                      </a:r>
                    </a:p>
                  </a:txBody>
                  <a:tcPr marL="54864" marR="54864" marT="27432" marB="27432" anchor="ctr">
                    <a:solidFill>
                      <a:srgbClr val="EEF0FF"/>
                    </a:solidFill>
                  </a:tcPr>
                </a:tc>
              </a:tr>
              <a:tr h="658368">
                <a:tc>
                  <a:txBody>
                    <a:bodyPr wrap="square"/>
                    <a:lstStyle/>
                    <a:p>
                      <a:r>
                        <a:rPr sz="1100" b="1">
                          <a:solidFill>
                            <a:srgbClr val="111827"/>
                          </a:solidFill>
                          <a:latin typeface="Calibri"/>
                        </a:rPr>
                        <a:t>Sprint 4</a:t>
                      </a:r>
                    </a:p>
                    <a:p>
                      <a:r>
                        <a:rPr sz="1100" b="1">
                          <a:solidFill>
                            <a:srgbClr val="111827"/>
                          </a:solidFill>
                          <a:latin typeface="Calibri"/>
                        </a:rPr>
                        <a:t>Pilotage</a:t>
                      </a:r>
                    </a:p>
                  </a:txBody>
                  <a:tcPr marL="54864" marR="54864" marT="27432" marB="27432" anchor="ctr">
                    <a:solidFill>
                      <a:srgbClr val="FFFFFF"/>
                    </a:solidFill>
                  </a:tcPr>
                </a:tc>
                <a:tc>
                  <a:txBody>
                    <a:bodyPr wrap="square"/>
                    <a:lstStyle/>
                    <a:p>
                      <a:r>
                        <a:rPr sz="1100" b="0">
                          <a:solidFill>
                            <a:srgbClr val="16A34A"/>
                          </a:solidFill>
                          <a:latin typeface="Calibri"/>
                        </a:rPr>
                        <a:t>Tableau de bord KPI, cycle de vie, Swagger, Docker Compose</a:t>
                      </a:r>
                    </a:p>
                  </a:txBody>
                  <a:tcPr marL="54864" marR="54864" marT="27432" marB="27432" anchor="ctr">
                    <a:solidFill>
                      <a:srgbClr val="FFFFFF"/>
                    </a:solidFill>
                  </a:tcPr>
                </a:tc>
                <a:tc>
                  <a:txBody>
                    <a:bodyPr wrap="square"/>
                    <a:lstStyle/>
                    <a:p>
                      <a:r>
                        <a:rPr sz="1100" b="0">
                          <a:solidFill>
                            <a:srgbClr val="F59E0B"/>
                          </a:solidFill>
                          <a:latin typeface="Calibri"/>
                        </a:rPr>
                        <a:t>—</a:t>
                      </a:r>
                    </a:p>
                  </a:txBody>
                  <a:tcPr marL="54864" marR="54864" marT="27432" marB="27432" anchor="ctr">
                    <a:solidFill>
                      <a:srgbClr val="FFFFFF"/>
                    </a:solidFill>
                  </a:tcPr>
                </a:tc>
                <a:tc>
                  <a:txBody>
                    <a:bodyPr wrap="square"/>
                    <a:lstStyle/>
                    <a:p>
                      <a:r>
                        <a:rPr sz="1100" b="0">
                          <a:solidFill>
                            <a:srgbClr val="6B7280"/>
                          </a:solidFill>
                          <a:latin typeface="Calibri"/>
                        </a:rPr>
                        <a:t>CI/CD, HTTPS</a:t>
                      </a:r>
                    </a:p>
                  </a:txBody>
                  <a:tcPr marL="54864" marR="54864" marT="27432" marB="27432" anchor="ctr">
                    <a:solidFill>
                      <a:srgbClr val="FFFFFF"/>
                    </a:solidFill>
                  </a:tcPr>
                </a:tc>
                <a:tc>
                  <a:txBody>
                    <a:bodyPr wrap="square"/>
                    <a:lstStyle/>
                    <a:p>
                      <a:r>
                        <a:rPr sz="1100" b="0">
                          <a:solidFill>
                            <a:srgbClr val="111827"/>
                          </a:solidFill>
                          <a:latin typeface="Calibri"/>
                        </a:rPr>
                        <a:t/>
                      </a:r>
                    </a:p>
                  </a:txBody>
                  <a:tcPr marL="54864" marR="54864" marT="27432" marB="27432" anchor="ctr">
                    <a:solidFill>
                      <a:srgbClr val="FFFFFF"/>
                    </a:solidFill>
                  </a:tcPr>
                </a:tc>
              </a:tr>
              <a:tr h="658368">
                <a:tc>
                  <a:txBody>
                    <a:bodyPr wrap="square"/>
                    <a:lstStyle/>
                    <a:p>
                      <a:r>
                        <a:rPr sz="1100" b="1">
                          <a:solidFill>
                            <a:srgbClr val="111827"/>
                          </a:solidFill>
                          <a:latin typeface="Calibri"/>
                        </a:rPr>
                        <a:t>Rapport</a:t>
                      </a:r>
                    </a:p>
                  </a:txBody>
                  <a:tcPr marL="54864" marR="54864" marT="27432" marB="27432" anchor="ctr">
                    <a:solidFill>
                      <a:srgbClr val="EEF0FF"/>
                    </a:solidFill>
                  </a:tcPr>
                </a:tc>
                <a:tc>
                  <a:txBody>
                    <a:bodyPr wrap="square"/>
                    <a:lstStyle/>
                    <a:p>
                      <a:r>
                        <a:rPr sz="1100" b="0">
                          <a:solidFill>
                            <a:srgbClr val="16A34A"/>
                          </a:solidFill>
                          <a:latin typeface="Calibri"/>
                        </a:rPr>
                        <a:t>Chapitres 1 et 2</a:t>
                      </a:r>
                    </a:p>
                  </a:txBody>
                  <a:tcPr marL="54864" marR="54864" marT="27432" marB="27432" anchor="ctr">
                    <a:solidFill>
                      <a:srgbClr val="EEF0FF"/>
                    </a:solidFill>
                  </a:tcPr>
                </a:tc>
                <a:tc>
                  <a:txBody>
                    <a:bodyPr wrap="square"/>
                    <a:lstStyle/>
                    <a:p>
                      <a:r>
                        <a:rPr sz="1100" b="0">
                          <a:solidFill>
                            <a:srgbClr val="F59E0B"/>
                          </a:solidFill>
                          <a:latin typeface="Calibri"/>
                        </a:rPr>
                        <a:t>Chapitres 3 à 6</a:t>
                      </a:r>
                    </a:p>
                  </a:txBody>
                  <a:tcPr marL="54864" marR="54864" marT="27432" marB="27432" anchor="ctr">
                    <a:solidFill>
                      <a:srgbClr val="EEF0FF"/>
                    </a:solidFill>
                  </a:tcPr>
                </a:tc>
                <a:tc>
                  <a:txBody>
                    <a:bodyPr wrap="square"/>
                    <a:lstStyle/>
                    <a:p>
                      <a:r>
                        <a:rPr sz="1100" b="0">
                          <a:solidFill>
                            <a:srgbClr val="6B7280"/>
                          </a:solidFill>
                          <a:latin typeface="Calibri"/>
                        </a:rPr>
                        <a:t>Relecture, conclusion</a:t>
                      </a:r>
                    </a:p>
                  </a:txBody>
                  <a:tcPr marL="54864" marR="54864" marT="27432" marB="27432" anchor="ctr">
                    <a:solidFill>
                      <a:srgbClr val="EEF0FF"/>
                    </a:solidFill>
                  </a:tcPr>
                </a:tc>
                <a:tc>
                  <a:txBody>
                    <a:bodyPr wrap="square"/>
                    <a:lstStyle/>
                    <a:p>
                      <a:r>
                        <a:rPr sz="1100" b="0">
                          <a:solidFill>
                            <a:srgbClr val="111827"/>
                          </a:solidFill>
                          <a:latin typeface="Calibri"/>
                        </a:rPr>
                        <a:t/>
                      </a:r>
                    </a:p>
                  </a:txBody>
                  <a:tcPr marL="54864" marR="54864" marT="27432" marB="27432" anchor="ctr">
                    <a:solidFill>
                      <a:srgbClr val="EEF0FF"/>
                    </a:solidFill>
                  </a:tcPr>
                </a:tc>
              </a:tr>
            </a:tbl>
          </a:graphicData>
        </a:graphic>
      </p:graphicFrame>
      <p:sp>
        <p:nvSpPr>
          <p:cNvPr id="9" name="Rectangle 8"/>
          <p:cNvSpPr/>
          <p:nvPr/>
        </p:nvSpPr>
        <p:spPr>
          <a:xfrm>
            <a:off x="10236403" y="2002536"/>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36403" y="2002536"/>
            <a:ext cx="1358188" cy="2377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36403" y="1984248"/>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100 %</a:t>
            </a:r>
          </a:p>
        </p:txBody>
      </p:sp>
      <p:sp>
        <p:nvSpPr>
          <p:cNvPr id="12" name="Rectangle 11"/>
          <p:cNvSpPr/>
          <p:nvPr/>
        </p:nvSpPr>
        <p:spPr>
          <a:xfrm>
            <a:off x="10236403" y="2660904"/>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236403" y="2660904"/>
            <a:ext cx="1005059" cy="2377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36403" y="2642616"/>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74 %</a:t>
            </a:r>
          </a:p>
        </p:txBody>
      </p:sp>
      <p:sp>
        <p:nvSpPr>
          <p:cNvPr id="15" name="Rectangle 14"/>
          <p:cNvSpPr/>
          <p:nvPr/>
        </p:nvSpPr>
        <p:spPr>
          <a:xfrm>
            <a:off x="10236403" y="3319272"/>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236403" y="3319272"/>
            <a:ext cx="1290278" cy="2377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36403" y="3300984"/>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95 %</a:t>
            </a:r>
          </a:p>
        </p:txBody>
      </p:sp>
      <p:sp>
        <p:nvSpPr>
          <p:cNvPr id="18" name="Rectangle 17"/>
          <p:cNvSpPr/>
          <p:nvPr/>
        </p:nvSpPr>
        <p:spPr>
          <a:xfrm>
            <a:off x="10236403" y="3977640"/>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236403" y="3977640"/>
            <a:ext cx="1290278" cy="2377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36403" y="3959352"/>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95 %</a:t>
            </a:r>
          </a:p>
        </p:txBody>
      </p:sp>
      <p:sp>
        <p:nvSpPr>
          <p:cNvPr id="21" name="Rectangle 20"/>
          <p:cNvSpPr/>
          <p:nvPr/>
        </p:nvSpPr>
        <p:spPr>
          <a:xfrm>
            <a:off x="10236403" y="4636008"/>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36403" y="4636008"/>
            <a:ext cx="1358188" cy="2377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36403" y="4617720"/>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100 %</a:t>
            </a:r>
          </a:p>
        </p:txBody>
      </p:sp>
      <p:sp>
        <p:nvSpPr>
          <p:cNvPr id="24" name="Rectangle 23"/>
          <p:cNvSpPr/>
          <p:nvPr/>
        </p:nvSpPr>
        <p:spPr>
          <a:xfrm>
            <a:off x="10236403" y="5294376"/>
            <a:ext cx="1358188" cy="2377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236403" y="5294376"/>
            <a:ext cx="475365" cy="23774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6403" y="5276088"/>
            <a:ext cx="1358188" cy="274320"/>
          </a:xfrm>
          <a:prstGeom prst="rect">
            <a:avLst/>
          </a:prstGeom>
          <a:noFill/>
        </p:spPr>
        <p:txBody>
          <a:bodyPr wrap="square" anchor="ctr" lIns="45720" rIns="45720">
            <a:spAutoFit/>
          </a:bodyPr>
          <a:lstStyle/>
          <a:p>
            <a:pPr algn="ctr">
              <a:spcAft>
                <a:spcPts val="400"/>
              </a:spcAft>
            </a:pPr>
            <a:r>
              <a:rPr sz="1100" b="1">
                <a:solidFill>
                  <a:srgbClr val="FFFFFF"/>
                </a:solidFill>
                <a:latin typeface="Calibri"/>
              </a:rPr>
              <a:t>35 %</a:t>
            </a:r>
          </a:p>
        </p:txBody>
      </p:sp>
      <p:sp>
        <p:nvSpPr>
          <p:cNvPr id="27" name="Rounded Rectangle 26"/>
          <p:cNvSpPr/>
          <p:nvPr/>
        </p:nvSpPr>
        <p:spPr>
          <a:xfrm>
            <a:off x="457200" y="5715000"/>
            <a:ext cx="11274552" cy="640080"/>
          </a:xfrm>
          <a:prstGeom prst="roundRect">
            <a:avLst>
              <a:gd name="adj" fmla="val 15000"/>
            </a:avLst>
          </a:prstGeom>
          <a:solidFill>
            <a:srgbClr val="EEF0FF"/>
          </a:solidFill>
          <a:ln>
            <a:solidFill>
              <a:srgbClr val="4648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715000"/>
            <a:ext cx="10908792" cy="640080"/>
          </a:xfrm>
          <a:prstGeom prst="rect">
            <a:avLst/>
          </a:prstGeom>
          <a:noFill/>
        </p:spPr>
        <p:txBody>
          <a:bodyPr wrap="square" anchor="ctr" lIns="45720" rIns="45720">
            <a:spAutoFit/>
          </a:bodyPr>
          <a:lstStyle/>
          <a:p>
            <a:pPr algn="l">
              <a:spcAft>
                <a:spcPts val="400"/>
              </a:spcAft>
            </a:pPr>
            <a:r>
              <a:rPr sz="1400" b="1">
                <a:solidFill>
                  <a:srgbClr val="1F2235"/>
                </a:solidFill>
                <a:latin typeface="Calibri"/>
              </a:rPr>
              <a:t>Code : 160 / 168 points du backlog (≈ 95 %) — 85 tests JUnit + 7 tests pytest, 0 échec — toutes les user stories « Must » sont réalisées.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Démonstration : virements de masse SEPA</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Avancement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17 / 21</a:t>
            </a:r>
          </a:p>
        </p:txBody>
      </p:sp>
      <p:sp>
        <p:nvSpPr>
          <p:cNvPr id="8" name="TextBox 7"/>
          <p:cNvSpPr txBox="1"/>
          <p:nvPr/>
        </p:nvSpPr>
        <p:spPr>
          <a:xfrm>
            <a:off x="457200" y="1143000"/>
            <a:ext cx="11274552" cy="822960"/>
          </a:xfrm>
          <a:prstGeom prst="rect">
            <a:avLst/>
          </a:prstGeom>
          <a:noFill/>
        </p:spPr>
        <p:txBody>
          <a:bodyPr wrap="square" anchor="t" lIns="45720" rIns="45720">
            <a:spAutoFit/>
          </a:bodyPr>
          <a:lstStyle/>
          <a:p>
            <a:pPr algn="l">
              <a:spcAft>
                <a:spcPts val="400"/>
              </a:spcAft>
            </a:pPr>
            <a:r>
              <a:rPr sz="1400" b="0">
                <a:solidFill>
                  <a:srgbClr val="111827"/>
                </a:solidFill>
                <a:latin typeface="Calibri"/>
              </a:rPr>
              <a:t>• Historique immuable : fichier, période, nombre, total, version XSD, statut de conformité</a:t>
            </a:r>
          </a:p>
          <a:p>
            <a:pPr algn="l">
              <a:spcAft>
                <a:spcPts val="400"/>
              </a:spcAft>
            </a:pPr>
            <a:r>
              <a:rPr sz="1400" b="0">
                <a:solidFill>
                  <a:srgbClr val="111827"/>
                </a:solidFill>
                <a:latin typeface="Calibri"/>
              </a:rPr>
              <a:t>• Validation contre le XSD choisi : toutes les erreurs listées (ligne, élément, message traduit)</a:t>
            </a:r>
          </a:p>
        </p:txBody>
      </p:sp>
      <p:pic>
        <p:nvPicPr>
          <p:cNvPr id="9" name="Picture 8" descr="06_virements_masse.png"/>
          <p:cNvPicPr>
            <a:picLocks noChangeAspect="1"/>
          </p:cNvPicPr>
          <p:nvPr/>
        </p:nvPicPr>
        <p:blipFill>
          <a:blip r:embed="rId2"/>
          <a:stretch>
            <a:fillRect/>
          </a:stretch>
        </p:blipFill>
        <p:spPr>
          <a:xfrm>
            <a:off x="457200" y="2339292"/>
            <a:ext cx="5500116" cy="3093815"/>
          </a:xfrm>
          <a:prstGeom prst="rect">
            <a:avLst/>
          </a:prstGeom>
          <a:ln w="9525">
            <a:solidFill>
              <a:srgbClr val="D1D5DB"/>
            </a:solidFill>
          </a:ln>
        </p:spPr>
      </p:pic>
      <p:sp>
        <p:nvSpPr>
          <p:cNvPr id="10" name="TextBox 9"/>
          <p:cNvSpPr txBox="1"/>
          <p:nvPr/>
        </p:nvSpPr>
        <p:spPr>
          <a:xfrm>
            <a:off x="457200" y="5961888"/>
            <a:ext cx="5500116"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Paramètres, filtres et historique des fichiers</a:t>
            </a:r>
          </a:p>
        </p:txBody>
      </p:sp>
      <p:pic>
        <p:nvPicPr>
          <p:cNvPr id="11" name="Picture 10" descr="06c_masse_erreurs_xsd.png"/>
          <p:cNvPicPr>
            <a:picLocks noChangeAspect="1"/>
          </p:cNvPicPr>
          <p:nvPr/>
        </p:nvPicPr>
        <p:blipFill>
          <a:blip r:embed="rId3"/>
          <a:stretch>
            <a:fillRect/>
          </a:stretch>
        </p:blipFill>
        <p:spPr>
          <a:xfrm>
            <a:off x="6231636" y="2339292"/>
            <a:ext cx="5500116" cy="3093815"/>
          </a:xfrm>
          <a:prstGeom prst="rect">
            <a:avLst/>
          </a:prstGeom>
          <a:ln w="9525">
            <a:solidFill>
              <a:srgbClr val="D1D5DB"/>
            </a:solidFill>
          </a:ln>
        </p:spPr>
      </p:pic>
      <p:sp>
        <p:nvSpPr>
          <p:cNvPr id="12" name="TextBox 11"/>
          <p:cNvSpPr txBox="1"/>
          <p:nvPr/>
        </p:nvSpPr>
        <p:spPr>
          <a:xfrm>
            <a:off x="6231636" y="5961888"/>
            <a:ext cx="5500116"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Fichier non conforme : 8 erreurs XSD bloquantes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Démonstration : anomalies et recommandations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Avancement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18 / 21</a:t>
            </a:r>
          </a:p>
        </p:txBody>
      </p:sp>
      <p:sp>
        <p:nvSpPr>
          <p:cNvPr id="8" name="TextBox 7"/>
          <p:cNvSpPr txBox="1"/>
          <p:nvPr/>
        </p:nvSpPr>
        <p:spPr>
          <a:xfrm>
            <a:off x="457200" y="1143000"/>
            <a:ext cx="11274552" cy="822960"/>
          </a:xfrm>
          <a:prstGeom prst="rect">
            <a:avLst/>
          </a:prstGeom>
          <a:noFill/>
        </p:spPr>
        <p:txBody>
          <a:bodyPr wrap="square" anchor="t" lIns="45720" rIns="45720">
            <a:spAutoFit/>
          </a:bodyPr>
          <a:lstStyle/>
          <a:p>
            <a:pPr algn="l">
              <a:spcAft>
                <a:spcPts val="400"/>
              </a:spcAft>
            </a:pPr>
            <a:r>
              <a:rPr sz="1400" b="0">
                <a:solidFill>
                  <a:srgbClr val="111827"/>
                </a:solidFill>
                <a:latin typeface="Calibri"/>
              </a:rPr>
              <a:t>• Règles Java : IBAN (MOD-97), BIC (ISO 9362), montant ≤ 0, doublons, net &gt; brut</a:t>
            </a:r>
          </a:p>
          <a:p>
            <a:pPr algn="l">
              <a:spcAft>
                <a:spcPts val="400"/>
              </a:spcAft>
            </a:pPr>
            <a:r>
              <a:rPr sz="1400" b="0">
                <a:solidFill>
                  <a:srgbClr val="111827"/>
                </a:solidFill>
                <a:latin typeface="Calibri"/>
              </a:rPr>
              <a:t>• IA : score de 0 à 1 → FAIBLE / MOYEN / ÉLEVÉ / CRITIQUE, avec raisons lisibles</a:t>
            </a:r>
          </a:p>
          <a:p>
            <a:pPr algn="l">
              <a:spcAft>
                <a:spcPts val="400"/>
              </a:spcAft>
            </a:pPr>
            <a:r>
              <a:rPr sz="1400" b="0">
                <a:solidFill>
                  <a:srgbClr val="111827"/>
                </a:solidFill>
                <a:latin typeface="Calibri"/>
              </a:rPr>
              <a:t>• Recommandation contextualisée et cycle OUVERTE → CORRIGÉE / IGNORÉE, tracé dans l'audit</a:t>
            </a:r>
          </a:p>
        </p:txBody>
      </p:sp>
      <p:pic>
        <p:nvPicPr>
          <p:cNvPr id="9" name="Picture 8" descr="05_anomalies.png"/>
          <p:cNvPicPr>
            <a:picLocks noChangeAspect="1"/>
          </p:cNvPicPr>
          <p:nvPr/>
        </p:nvPicPr>
        <p:blipFill>
          <a:blip r:embed="rId2"/>
          <a:stretch>
            <a:fillRect/>
          </a:stretch>
        </p:blipFill>
        <p:spPr>
          <a:xfrm>
            <a:off x="2558796" y="1965960"/>
            <a:ext cx="7071360" cy="3977640"/>
          </a:xfrm>
          <a:prstGeom prst="rect">
            <a:avLst/>
          </a:prstGeom>
          <a:ln w="9525">
            <a:solidFill>
              <a:srgbClr val="D1D5DB"/>
            </a:solidFill>
          </a:ln>
        </p:spPr>
      </p:pic>
      <p:sp>
        <p:nvSpPr>
          <p:cNvPr id="10" name="TextBox 9"/>
          <p:cNvSpPr txBox="1"/>
          <p:nvPr/>
        </p:nvSpPr>
        <p:spPr>
          <a:xfrm>
            <a:off x="457200" y="5961888"/>
            <a:ext cx="11274552"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Liste des anomalies avec recommandation et actions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Démonstration : pilotage et traçabilité</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Avancement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19 / 21</a:t>
            </a:r>
          </a:p>
        </p:txBody>
      </p:sp>
      <p:pic>
        <p:nvPicPr>
          <p:cNvPr id="8" name="Picture 7" descr="03_kpi.png"/>
          <p:cNvPicPr>
            <a:picLocks noChangeAspect="1"/>
          </p:cNvPicPr>
          <p:nvPr/>
        </p:nvPicPr>
        <p:blipFill>
          <a:blip r:embed="rId2"/>
          <a:stretch>
            <a:fillRect/>
          </a:stretch>
        </p:blipFill>
        <p:spPr>
          <a:xfrm>
            <a:off x="457200" y="1996392"/>
            <a:ext cx="5500116" cy="3093815"/>
          </a:xfrm>
          <a:prstGeom prst="rect">
            <a:avLst/>
          </a:prstGeom>
          <a:ln w="9525">
            <a:solidFill>
              <a:srgbClr val="D1D5DB"/>
            </a:solidFill>
          </a:ln>
        </p:spPr>
      </p:pic>
      <p:sp>
        <p:nvSpPr>
          <p:cNvPr id="9" name="TextBox 8"/>
          <p:cNvSpPr txBox="1"/>
          <p:nvPr/>
        </p:nvSpPr>
        <p:spPr>
          <a:xfrm>
            <a:off x="457200" y="5961888"/>
            <a:ext cx="5500116"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Tableau de bord KPI (fiches, taux d'erreur, montant, 12 mois)</a:t>
            </a:r>
          </a:p>
        </p:txBody>
      </p:sp>
      <p:pic>
        <p:nvPicPr>
          <p:cNvPr id="10" name="Picture 9" descr="08_audit.png"/>
          <p:cNvPicPr>
            <a:picLocks noChangeAspect="1"/>
          </p:cNvPicPr>
          <p:nvPr/>
        </p:nvPicPr>
        <p:blipFill>
          <a:blip r:embed="rId3"/>
          <a:stretch>
            <a:fillRect/>
          </a:stretch>
        </p:blipFill>
        <p:spPr>
          <a:xfrm>
            <a:off x="6231636" y="1996392"/>
            <a:ext cx="5500116" cy="3093815"/>
          </a:xfrm>
          <a:prstGeom prst="rect">
            <a:avLst/>
          </a:prstGeom>
          <a:ln w="9525">
            <a:solidFill>
              <a:srgbClr val="D1D5DB"/>
            </a:solidFill>
          </a:ln>
        </p:spPr>
      </p:pic>
      <p:sp>
        <p:nvSpPr>
          <p:cNvPr id="11" name="TextBox 10"/>
          <p:cNvSpPr txBox="1"/>
          <p:nvPr/>
        </p:nvSpPr>
        <p:spPr>
          <a:xfrm>
            <a:off x="6231636" y="5961888"/>
            <a:ext cx="5500116" cy="32004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Journal d'audit : auteur, action, IP, résultat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Planning des tâches restantes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Planning et perspectives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20 / 21</a:t>
            </a:r>
          </a:p>
        </p:txBody>
      </p:sp>
      <p:pic>
        <p:nvPicPr>
          <p:cNvPr id="8" name="Picture 7" descr="gantt.png"/>
          <p:cNvPicPr>
            <a:picLocks noChangeAspect="1"/>
          </p:cNvPicPr>
          <p:nvPr/>
        </p:nvPicPr>
        <p:blipFill>
          <a:blip r:embed="rId2"/>
          <a:stretch>
            <a:fillRect/>
          </a:stretch>
        </p:blipFill>
        <p:spPr>
          <a:xfrm>
            <a:off x="608076" y="1143000"/>
            <a:ext cx="10972800" cy="4754880"/>
          </a:xfrm>
          <a:prstGeom prst="rect">
            <a:avLst/>
          </a:prstGeom>
        </p:spPr>
      </p:pic>
      <p:sp>
        <p:nvSpPr>
          <p:cNvPr id="9" name="TextBox 8"/>
          <p:cNvSpPr txBox="1"/>
          <p:nvPr/>
        </p:nvSpPr>
        <p:spPr>
          <a:xfrm>
            <a:off x="457200" y="5897880"/>
            <a:ext cx="11274552" cy="365760"/>
          </a:xfrm>
          <a:prstGeom prst="rect">
            <a:avLst/>
          </a:prstGeom>
          <a:noFill/>
        </p:spPr>
        <p:txBody>
          <a:bodyPr wrap="square" anchor="t" lIns="45720" rIns="45720">
            <a:spAutoFit/>
          </a:bodyPr>
          <a:lstStyle/>
          <a:p>
            <a:pPr algn="ctr">
              <a:spcAft>
                <a:spcPts val="400"/>
              </a:spcAft>
            </a:pPr>
            <a:r>
              <a:rPr sz="1100" b="0">
                <a:solidFill>
                  <a:srgbClr val="6B7280"/>
                </a:solidFill>
                <a:latin typeface="Calibri"/>
              </a:rPr>
              <a:t>Durées indicatives en semaines, à ajuster aux dates officielles de fin de stage.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2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9601200" cy="685800"/>
          </a:xfrm>
          <a:prstGeom prst="rect">
            <a:avLst/>
          </a:prstGeom>
          <a:noFill/>
        </p:spPr>
        <p:txBody>
          <a:bodyPr wrap="square" anchor="ctr" lIns="45720" rIns="45720">
            <a:spAutoFit/>
          </a:bodyPr>
          <a:lstStyle/>
          <a:p>
            <a:pPr algn="l">
              <a:spcAft>
                <a:spcPts val="400"/>
              </a:spcAft>
            </a:pPr>
            <a:r>
              <a:rPr sz="2800" b="1">
                <a:solidFill>
                  <a:srgbClr val="FFFFFF"/>
                </a:solidFill>
                <a:latin typeface="Calibri"/>
              </a:rPr>
              <a:t>Conclusion et perspectives</a:t>
            </a:r>
          </a:p>
        </p:txBody>
      </p:sp>
      <p:sp>
        <p:nvSpPr>
          <p:cNvPr id="5" name="TextBox 4"/>
          <p:cNvSpPr txBox="1"/>
          <p:nvPr/>
        </p:nvSpPr>
        <p:spPr>
          <a:xfrm>
            <a:off x="8503920" y="109728"/>
            <a:ext cx="3291840" cy="685800"/>
          </a:xfrm>
          <a:prstGeom prst="rect">
            <a:avLst/>
          </a:prstGeom>
          <a:noFill/>
        </p:spPr>
        <p:txBody>
          <a:bodyPr wrap="square" anchor="ctr" lIns="45720" rIns="45720">
            <a:spAutoFit/>
          </a:bodyPr>
          <a:lstStyle/>
          <a:p>
            <a:pPr algn="r">
              <a:spcAft>
                <a:spcPts val="400"/>
              </a:spcAft>
            </a:pPr>
            <a:r>
              <a:rPr sz="1200" b="0">
                <a:solidFill>
                  <a:srgbClr val="C7D2FE"/>
                </a:solidFill>
                <a:latin typeface="Calibri"/>
              </a:rPr>
              <a:t>Planning et perspectives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400"/>
              </a:spcAft>
            </a:pPr>
            <a:r>
              <a:rPr sz="1000" b="0">
                <a:solidFill>
                  <a:srgbClr val="6B7280"/>
                </a:solidFill>
                <a:latin typeface="Calibri"/>
              </a:rPr>
              <a:t>Zina ElMorri — Soutenance de mi-parcours — Sopra HR Software / SESAME</a:t>
            </a:r>
          </a:p>
        </p:txBody>
      </p:sp>
      <p:sp>
        <p:nvSpPr>
          <p:cNvPr id="7" name="TextBox 6"/>
          <p:cNvSpPr txBox="1"/>
          <p:nvPr/>
        </p:nvSpPr>
        <p:spPr>
          <a:xfrm>
            <a:off x="10789920" y="6446520"/>
            <a:ext cx="914400" cy="320040"/>
          </a:xfrm>
          <a:prstGeom prst="rect">
            <a:avLst/>
          </a:prstGeom>
          <a:noFill/>
        </p:spPr>
        <p:txBody>
          <a:bodyPr wrap="square" anchor="t" lIns="45720" rIns="45720">
            <a:spAutoFit/>
          </a:bodyPr>
          <a:lstStyle/>
          <a:p>
            <a:pPr algn="r">
              <a:spcAft>
                <a:spcPts val="400"/>
              </a:spcAft>
            </a:pPr>
            <a:r>
              <a:rPr sz="1000" b="0">
                <a:solidFill>
                  <a:srgbClr val="6B7280"/>
                </a:solidFill>
                <a:latin typeface="Calibri"/>
              </a:rPr>
              <a:t>21 / 21</a:t>
            </a:r>
          </a:p>
        </p:txBody>
      </p:sp>
      <p:sp>
        <p:nvSpPr>
          <p:cNvPr id="8" name="Rounded Rectangle 7"/>
          <p:cNvSpPr/>
          <p:nvPr/>
        </p:nvSpPr>
        <p:spPr>
          <a:xfrm>
            <a:off x="457200"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143000"/>
            <a:ext cx="73152" cy="40233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216152"/>
            <a:ext cx="3377184" cy="411480"/>
          </a:xfrm>
          <a:prstGeom prst="rect">
            <a:avLst/>
          </a:prstGeom>
          <a:noFill/>
        </p:spPr>
        <p:txBody>
          <a:bodyPr wrap="square" anchor="t" lIns="45720" rIns="45720">
            <a:spAutoFit/>
          </a:bodyPr>
          <a:lstStyle/>
          <a:p>
            <a:pPr algn="l">
              <a:spcAft>
                <a:spcPts val="400"/>
              </a:spcAft>
            </a:pPr>
            <a:r>
              <a:rPr sz="1500" b="1">
                <a:solidFill>
                  <a:srgbClr val="16A34A"/>
                </a:solidFill>
                <a:latin typeface="Calibri"/>
              </a:rPr>
              <a:t>Bilan</a:t>
            </a:r>
          </a:p>
        </p:txBody>
      </p:sp>
      <p:sp>
        <p:nvSpPr>
          <p:cNvPr id="11" name="TextBox 10"/>
          <p:cNvSpPr txBox="1"/>
          <p:nvPr/>
        </p:nvSpPr>
        <p:spPr>
          <a:xfrm>
            <a:off x="621792"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Plateforme fonctionnelle de bout en bout</a:t>
            </a:r>
          </a:p>
          <a:p>
            <a:pPr algn="l">
              <a:spcAft>
                <a:spcPts val="400"/>
              </a:spcAft>
            </a:pPr>
            <a:r>
              <a:rPr sz="1300" b="0">
                <a:solidFill>
                  <a:srgbClr val="111827"/>
                </a:solidFill>
                <a:latin typeface="Calibri"/>
              </a:rPr>
              <a:t>• XSD dynamique, génération et validation</a:t>
            </a:r>
          </a:p>
          <a:p>
            <a:pPr algn="l">
              <a:spcAft>
                <a:spcPts val="400"/>
              </a:spcAft>
            </a:pPr>
            <a:r>
              <a:rPr sz="1300" b="0">
                <a:solidFill>
                  <a:srgbClr val="111827"/>
                </a:solidFill>
                <a:latin typeface="Calibri"/>
              </a:rPr>
              <a:t>• Détection hybride règles + IA</a:t>
            </a:r>
          </a:p>
          <a:p>
            <a:pPr algn="l">
              <a:spcAft>
                <a:spcPts val="400"/>
              </a:spcAft>
            </a:pPr>
            <a:r>
              <a:rPr sz="1300" b="0">
                <a:solidFill>
                  <a:srgbClr val="111827"/>
                </a:solidFill>
                <a:latin typeface="Calibri"/>
              </a:rPr>
              <a:t>• Audit et KPI, 4 rôles, Docker</a:t>
            </a:r>
          </a:p>
        </p:txBody>
      </p:sp>
      <p:sp>
        <p:nvSpPr>
          <p:cNvPr id="12" name="Rounded Rectangle 11"/>
          <p:cNvSpPr/>
          <p:nvPr/>
        </p:nvSpPr>
        <p:spPr>
          <a:xfrm>
            <a:off x="4291584"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1584" y="1143000"/>
            <a:ext cx="73152" cy="40233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6176" y="1216152"/>
            <a:ext cx="3377184" cy="411480"/>
          </a:xfrm>
          <a:prstGeom prst="rect">
            <a:avLst/>
          </a:prstGeom>
          <a:noFill/>
        </p:spPr>
        <p:txBody>
          <a:bodyPr wrap="square" anchor="t" lIns="45720" rIns="45720">
            <a:spAutoFit/>
          </a:bodyPr>
          <a:lstStyle/>
          <a:p>
            <a:pPr algn="l">
              <a:spcAft>
                <a:spcPts val="400"/>
              </a:spcAft>
            </a:pPr>
            <a:r>
              <a:rPr sz="1500" b="1">
                <a:solidFill>
                  <a:srgbClr val="F59E0B"/>
                </a:solidFill>
                <a:latin typeface="Calibri"/>
              </a:rPr>
              <a:t>Reste à faire</a:t>
            </a:r>
          </a:p>
        </p:txBody>
      </p:sp>
      <p:sp>
        <p:nvSpPr>
          <p:cNvPr id="15" name="TextBox 14"/>
          <p:cNvSpPr txBox="1"/>
          <p:nvPr/>
        </p:nvSpPr>
        <p:spPr>
          <a:xfrm>
            <a:off x="4456176"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Évaluation chiffrée de l'IA</a:t>
            </a:r>
          </a:p>
          <a:p>
            <a:pPr algn="l">
              <a:spcAft>
                <a:spcPts val="400"/>
              </a:spcAft>
            </a:pPr>
            <a:r>
              <a:rPr sz="1300" b="0">
                <a:solidFill>
                  <a:srgbClr val="111827"/>
                </a:solidFill>
                <a:latin typeface="Calibri"/>
              </a:rPr>
              <a:t>• Rédaction des chapitres 3 à 6</a:t>
            </a:r>
          </a:p>
          <a:p>
            <a:pPr algn="l">
              <a:spcAft>
                <a:spcPts val="400"/>
              </a:spcAft>
            </a:pPr>
            <a:r>
              <a:rPr sz="1300" b="0">
                <a:solidFill>
                  <a:srgbClr val="111827"/>
                </a:solidFill>
                <a:latin typeface="Calibri"/>
              </a:rPr>
              <a:t>• Connexion faciale, tests E2E, CI/CD</a:t>
            </a:r>
          </a:p>
          <a:p>
            <a:pPr algn="l">
              <a:spcAft>
                <a:spcPts val="400"/>
              </a:spcAft>
            </a:pPr>
            <a:r>
              <a:rPr sz="1300" b="0">
                <a:solidFill>
                  <a:srgbClr val="111827"/>
                </a:solidFill>
                <a:latin typeface="Calibri"/>
              </a:rPr>
              <a:t>• Recette finale</a:t>
            </a:r>
          </a:p>
        </p:txBody>
      </p:sp>
      <p:sp>
        <p:nvSpPr>
          <p:cNvPr id="16" name="Rounded Rectangle 15"/>
          <p:cNvSpPr/>
          <p:nvPr/>
        </p:nvSpPr>
        <p:spPr>
          <a:xfrm>
            <a:off x="8125968" y="1143000"/>
            <a:ext cx="3605784" cy="4023360"/>
          </a:xfrm>
          <a:prstGeom prst="roundRect">
            <a:avLst>
              <a:gd name="adj" fmla="val 6000"/>
            </a:avLst>
          </a:prstGeom>
          <a:solidFill>
            <a:srgbClr val="FFFFFF"/>
          </a:solidFill>
          <a:ln>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5968" y="1143000"/>
            <a:ext cx="73152" cy="4023360"/>
          </a:xfrm>
          <a:prstGeom prst="rect">
            <a:avLst/>
          </a:prstGeom>
          <a:solidFill>
            <a:srgbClr val="464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560" y="1216152"/>
            <a:ext cx="3377184" cy="411480"/>
          </a:xfrm>
          <a:prstGeom prst="rect">
            <a:avLst/>
          </a:prstGeom>
          <a:noFill/>
        </p:spPr>
        <p:txBody>
          <a:bodyPr wrap="square" anchor="t" lIns="45720" rIns="45720">
            <a:spAutoFit/>
          </a:bodyPr>
          <a:lstStyle/>
          <a:p>
            <a:pPr algn="l">
              <a:spcAft>
                <a:spcPts val="400"/>
              </a:spcAft>
            </a:pPr>
            <a:r>
              <a:rPr sz="1500" b="1">
                <a:solidFill>
                  <a:srgbClr val="4648E0"/>
                </a:solidFill>
                <a:latin typeface="Calibri"/>
              </a:rPr>
              <a:t>Perspectives</a:t>
            </a:r>
          </a:p>
        </p:txBody>
      </p:sp>
      <p:sp>
        <p:nvSpPr>
          <p:cNvPr id="19" name="TextBox 18"/>
          <p:cNvSpPr txBox="1"/>
          <p:nvPr/>
        </p:nvSpPr>
        <p:spPr>
          <a:xfrm>
            <a:off x="8290560" y="1600200"/>
            <a:ext cx="3377184" cy="3520440"/>
          </a:xfrm>
          <a:prstGeom prst="rect">
            <a:avLst/>
          </a:prstGeom>
          <a:noFill/>
        </p:spPr>
        <p:txBody>
          <a:bodyPr wrap="square" anchor="t" lIns="45720" rIns="45720">
            <a:spAutoFit/>
          </a:bodyPr>
          <a:lstStyle/>
          <a:p>
            <a:pPr algn="l">
              <a:spcAft>
                <a:spcPts val="400"/>
              </a:spcAft>
            </a:pPr>
            <a:r>
              <a:rPr sz="1300" b="0">
                <a:solidFill>
                  <a:srgbClr val="111827"/>
                </a:solidFill>
                <a:latin typeface="Calibri"/>
              </a:rPr>
              <a:t>• Données réelles anonymisées</a:t>
            </a:r>
          </a:p>
          <a:p>
            <a:pPr algn="l">
              <a:spcAft>
                <a:spcPts val="400"/>
              </a:spcAft>
            </a:pPr>
            <a:r>
              <a:rPr sz="1300" b="0">
                <a:solidFill>
                  <a:srgbClr val="111827"/>
                </a:solidFill>
                <a:latin typeface="Calibri"/>
              </a:rPr>
              <a:t>• Boucle de feedback → modèle supervisé</a:t>
            </a:r>
          </a:p>
          <a:p>
            <a:pPr algn="l">
              <a:spcAft>
                <a:spcPts val="400"/>
              </a:spcAft>
            </a:pPr>
            <a:r>
              <a:rPr sz="1300" b="0">
                <a:solidFill>
                  <a:srgbClr val="111827"/>
                </a:solidFill>
                <a:latin typeface="Calibri"/>
              </a:rPr>
              <a:t>• pain.008, camt.053</a:t>
            </a:r>
          </a:p>
          <a:p>
            <a:pPr algn="l">
              <a:spcAft>
                <a:spcPts val="400"/>
              </a:spcAft>
            </a:pPr>
            <a:r>
              <a:rPr sz="1300" b="0">
                <a:solidFill>
                  <a:srgbClr val="111827"/>
                </a:solidFill>
                <a:latin typeface="Calibri"/>
              </a:rPr>
              <a:t>• OIDC / MFA, déploiement Kubernetes</a:t>
            </a:r>
          </a:p>
        </p:txBody>
      </p:sp>
      <p:sp>
        <p:nvSpPr>
          <p:cNvPr id="20" name="TextBox 19"/>
          <p:cNvSpPr txBox="1"/>
          <p:nvPr/>
        </p:nvSpPr>
        <p:spPr>
          <a:xfrm>
            <a:off x="457200" y="5440680"/>
            <a:ext cx="11274552" cy="822960"/>
          </a:xfrm>
          <a:prstGeom prst="rect">
            <a:avLst/>
          </a:prstGeom>
          <a:noFill/>
        </p:spPr>
        <p:txBody>
          <a:bodyPr wrap="square" anchor="ctr" lIns="45720" rIns="45720">
            <a:spAutoFit/>
          </a:bodyPr>
          <a:lstStyle/>
          <a:p>
            <a:pPr algn="ctr">
              <a:spcAft>
                <a:spcPts val="400"/>
              </a:spcAft>
            </a:pPr>
            <a:r>
              <a:rPr sz="3000" b="1">
                <a:solidFill>
                  <a:srgbClr val="1F2235"/>
                </a:solidFill>
                <a:latin typeface="Calibri"/>
              </a:rP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